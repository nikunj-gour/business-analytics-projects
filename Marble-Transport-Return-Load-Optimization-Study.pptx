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A39C5C-813A-4F0D-B3E6-406FDCAB38C7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E377E50-5447-4588-93E8-9913C551F6CD}">
      <dgm:prSet/>
      <dgm:spPr/>
      <dgm:t>
        <a:bodyPr/>
        <a:lstStyle/>
        <a:p>
          <a:r>
            <a:rPr lang="en-US" b="1" dirty="0"/>
            <a:t>How the Venture Worked</a:t>
          </a:r>
          <a:endParaRPr lang="en-US" dirty="0"/>
        </a:p>
      </dgm:t>
    </dgm:pt>
    <dgm:pt modelId="{B89C7271-8B65-4944-A6ED-B72106AB8119}" type="parTrans" cxnId="{F6183B55-4A73-49F0-913D-FEDB76231218}">
      <dgm:prSet/>
      <dgm:spPr/>
      <dgm:t>
        <a:bodyPr/>
        <a:lstStyle/>
        <a:p>
          <a:endParaRPr lang="en-US"/>
        </a:p>
      </dgm:t>
    </dgm:pt>
    <dgm:pt modelId="{34B6CE47-A1CD-431B-8861-5731D894ABA4}" type="sibTrans" cxnId="{F6183B55-4A73-49F0-913D-FEDB76231218}">
      <dgm:prSet/>
      <dgm:spPr/>
      <dgm:t>
        <a:bodyPr/>
        <a:lstStyle/>
        <a:p>
          <a:endParaRPr lang="en-US"/>
        </a:p>
      </dgm:t>
    </dgm:pt>
    <dgm:pt modelId="{0648C722-C513-4E1F-AC22-7FF95EEAE76A}">
      <dgm:prSet/>
      <dgm:spPr/>
      <dgm:t>
        <a:bodyPr/>
        <a:lstStyle/>
        <a:p>
          <a:r>
            <a:rPr lang="en-US" b="1" dirty="0"/>
            <a:t>Identifying the Problem:</a:t>
          </a:r>
          <a:br>
            <a:rPr lang="en-US" dirty="0"/>
          </a:br>
          <a:r>
            <a:rPr lang="en-US" dirty="0"/>
            <a:t>Pickup owners transporting marble from </a:t>
          </a:r>
          <a:r>
            <a:rPr lang="en-US" dirty="0" err="1"/>
            <a:t>Makrana</a:t>
          </a:r>
          <a:r>
            <a:rPr lang="en-US" dirty="0"/>
            <a:t> often struggled to find reliable return bookings for their journeys back. This was both a time-consuming and costly challenge for them.</a:t>
          </a:r>
        </a:p>
      </dgm:t>
    </dgm:pt>
    <dgm:pt modelId="{1D63389A-8C2E-4517-A9B0-E0C37CDC02C0}" type="parTrans" cxnId="{1884B17A-8714-4036-861F-5FC417CC503D}">
      <dgm:prSet/>
      <dgm:spPr/>
      <dgm:t>
        <a:bodyPr/>
        <a:lstStyle/>
        <a:p>
          <a:endParaRPr lang="en-US"/>
        </a:p>
      </dgm:t>
    </dgm:pt>
    <dgm:pt modelId="{2F733A57-1251-4720-B80A-774087386822}" type="sibTrans" cxnId="{1884B17A-8714-4036-861F-5FC417CC503D}">
      <dgm:prSet/>
      <dgm:spPr/>
      <dgm:t>
        <a:bodyPr/>
        <a:lstStyle/>
        <a:p>
          <a:endParaRPr lang="en-US"/>
        </a:p>
      </dgm:t>
    </dgm:pt>
    <dgm:pt modelId="{7F0231EA-82BC-45BB-83AC-1F0E29DE3414}">
      <dgm:prSet/>
      <dgm:spPr/>
      <dgm:t>
        <a:bodyPr/>
        <a:lstStyle/>
        <a:p>
          <a:r>
            <a:rPr lang="en-US" b="1" dirty="0"/>
            <a:t>Solving the Problem:</a:t>
          </a:r>
          <a:br>
            <a:rPr lang="en-US" dirty="0"/>
          </a:br>
          <a:r>
            <a:rPr lang="en-US" dirty="0"/>
            <a:t>Using my network, I arranged a return load booking for a truck traveling from </a:t>
          </a:r>
          <a:r>
            <a:rPr lang="en-US" dirty="0" err="1"/>
            <a:t>Makrana</a:t>
          </a:r>
          <a:r>
            <a:rPr lang="en-US" dirty="0"/>
            <a:t> to Andhra Pradesh. This ensured the pickup owner didn’t face difficulties in securing a return load and could complete the trip without delays </a:t>
          </a:r>
        </a:p>
      </dgm:t>
    </dgm:pt>
    <dgm:pt modelId="{540BF653-1E6D-46F7-A657-E4351914CA83}" type="parTrans" cxnId="{09E09488-0C38-448F-9A00-F560FE1BB44A}">
      <dgm:prSet/>
      <dgm:spPr/>
      <dgm:t>
        <a:bodyPr/>
        <a:lstStyle/>
        <a:p>
          <a:endParaRPr lang="en-US"/>
        </a:p>
      </dgm:t>
    </dgm:pt>
    <dgm:pt modelId="{34E36E11-AF90-45DD-9377-0F81F13281EC}" type="sibTrans" cxnId="{09E09488-0C38-448F-9A00-F560FE1BB44A}">
      <dgm:prSet/>
      <dgm:spPr/>
      <dgm:t>
        <a:bodyPr/>
        <a:lstStyle/>
        <a:p>
          <a:endParaRPr lang="en-US"/>
        </a:p>
      </dgm:t>
    </dgm:pt>
    <dgm:pt modelId="{E334F244-D644-4EBA-BFF2-EB43D4EC5C15}">
      <dgm:prSet/>
      <dgm:spPr/>
      <dgm:t>
        <a:bodyPr/>
        <a:lstStyle/>
        <a:p>
          <a:r>
            <a:rPr lang="en-US" b="1" dirty="0"/>
            <a:t>Profit Generation:</a:t>
          </a:r>
          <a:br>
            <a:rPr lang="en-US" dirty="0"/>
          </a:br>
          <a:r>
            <a:rPr lang="en-US" dirty="0"/>
            <a:t>As a mediator, I earned ₹3000 for  successful return load booking arranged. This became a steady source of income by solving the problem of securing return bookings for truck owners.</a:t>
          </a:r>
        </a:p>
      </dgm:t>
    </dgm:pt>
    <dgm:pt modelId="{1ADB02BF-C0C7-46E8-9A62-E751C79AD0D4}" type="parTrans" cxnId="{40562E77-4FD3-4E4B-B857-FA3E83C4A3F6}">
      <dgm:prSet/>
      <dgm:spPr/>
      <dgm:t>
        <a:bodyPr/>
        <a:lstStyle/>
        <a:p>
          <a:endParaRPr lang="en-US"/>
        </a:p>
      </dgm:t>
    </dgm:pt>
    <dgm:pt modelId="{01F6C037-5685-415A-A6E6-401B4D21E131}" type="sibTrans" cxnId="{40562E77-4FD3-4E4B-B857-FA3E83C4A3F6}">
      <dgm:prSet/>
      <dgm:spPr/>
      <dgm:t>
        <a:bodyPr/>
        <a:lstStyle/>
        <a:p>
          <a:endParaRPr lang="en-US"/>
        </a:p>
      </dgm:t>
    </dgm:pt>
    <dgm:pt modelId="{59D6E23C-1C87-443A-A15A-631C7C27A66C}" type="pres">
      <dgm:prSet presAssocID="{9FA39C5C-813A-4F0D-B3E6-406FDCAB38C7}" presName="outerComposite" presStyleCnt="0">
        <dgm:presLayoutVars>
          <dgm:chMax val="5"/>
          <dgm:dir/>
          <dgm:resizeHandles val="exact"/>
        </dgm:presLayoutVars>
      </dgm:prSet>
      <dgm:spPr/>
    </dgm:pt>
    <dgm:pt modelId="{637DAE40-8F35-4805-8BC5-FB5F3EED9AD0}" type="pres">
      <dgm:prSet presAssocID="{9FA39C5C-813A-4F0D-B3E6-406FDCAB38C7}" presName="dummyMaxCanvas" presStyleCnt="0">
        <dgm:presLayoutVars/>
      </dgm:prSet>
      <dgm:spPr/>
    </dgm:pt>
    <dgm:pt modelId="{DA6D2BA3-A600-4BD8-AFA4-2D683ACF1FD1}" type="pres">
      <dgm:prSet presAssocID="{9FA39C5C-813A-4F0D-B3E6-406FDCAB38C7}" presName="FourNodes_1" presStyleLbl="node1" presStyleIdx="0" presStyleCnt="4">
        <dgm:presLayoutVars>
          <dgm:bulletEnabled val="1"/>
        </dgm:presLayoutVars>
      </dgm:prSet>
      <dgm:spPr/>
    </dgm:pt>
    <dgm:pt modelId="{4A04FAB5-1B44-4203-98E1-8955F62F694E}" type="pres">
      <dgm:prSet presAssocID="{9FA39C5C-813A-4F0D-B3E6-406FDCAB38C7}" presName="FourNodes_2" presStyleLbl="node1" presStyleIdx="1" presStyleCnt="4">
        <dgm:presLayoutVars>
          <dgm:bulletEnabled val="1"/>
        </dgm:presLayoutVars>
      </dgm:prSet>
      <dgm:spPr/>
    </dgm:pt>
    <dgm:pt modelId="{F59DECD3-80DC-4430-B384-E790723B4376}" type="pres">
      <dgm:prSet presAssocID="{9FA39C5C-813A-4F0D-B3E6-406FDCAB38C7}" presName="FourNodes_3" presStyleLbl="node1" presStyleIdx="2" presStyleCnt="4">
        <dgm:presLayoutVars>
          <dgm:bulletEnabled val="1"/>
        </dgm:presLayoutVars>
      </dgm:prSet>
      <dgm:spPr/>
    </dgm:pt>
    <dgm:pt modelId="{3B4E2941-5189-4B8F-8FD3-EEFF96409504}" type="pres">
      <dgm:prSet presAssocID="{9FA39C5C-813A-4F0D-B3E6-406FDCAB38C7}" presName="FourNodes_4" presStyleLbl="node1" presStyleIdx="3" presStyleCnt="4">
        <dgm:presLayoutVars>
          <dgm:bulletEnabled val="1"/>
        </dgm:presLayoutVars>
      </dgm:prSet>
      <dgm:spPr/>
    </dgm:pt>
    <dgm:pt modelId="{A58B35C3-C753-4A05-92D0-FE29AE36C3BF}" type="pres">
      <dgm:prSet presAssocID="{9FA39C5C-813A-4F0D-B3E6-406FDCAB38C7}" presName="FourConn_1-2" presStyleLbl="fgAccFollowNode1" presStyleIdx="0" presStyleCnt="3">
        <dgm:presLayoutVars>
          <dgm:bulletEnabled val="1"/>
        </dgm:presLayoutVars>
      </dgm:prSet>
      <dgm:spPr/>
    </dgm:pt>
    <dgm:pt modelId="{093A4126-F589-4B63-9006-771308C9AC54}" type="pres">
      <dgm:prSet presAssocID="{9FA39C5C-813A-4F0D-B3E6-406FDCAB38C7}" presName="FourConn_2-3" presStyleLbl="fgAccFollowNode1" presStyleIdx="1" presStyleCnt="3">
        <dgm:presLayoutVars>
          <dgm:bulletEnabled val="1"/>
        </dgm:presLayoutVars>
      </dgm:prSet>
      <dgm:spPr/>
    </dgm:pt>
    <dgm:pt modelId="{ADF47357-1840-470C-ACE0-430CE67795FC}" type="pres">
      <dgm:prSet presAssocID="{9FA39C5C-813A-4F0D-B3E6-406FDCAB38C7}" presName="FourConn_3-4" presStyleLbl="fgAccFollowNode1" presStyleIdx="2" presStyleCnt="3">
        <dgm:presLayoutVars>
          <dgm:bulletEnabled val="1"/>
        </dgm:presLayoutVars>
      </dgm:prSet>
      <dgm:spPr/>
    </dgm:pt>
    <dgm:pt modelId="{458938CB-43B9-4964-A0B0-9AA72A8F2F6A}" type="pres">
      <dgm:prSet presAssocID="{9FA39C5C-813A-4F0D-B3E6-406FDCAB38C7}" presName="FourNodes_1_text" presStyleLbl="node1" presStyleIdx="3" presStyleCnt="4">
        <dgm:presLayoutVars>
          <dgm:bulletEnabled val="1"/>
        </dgm:presLayoutVars>
      </dgm:prSet>
      <dgm:spPr/>
    </dgm:pt>
    <dgm:pt modelId="{6AD6A041-3CB9-4FF9-984E-4B2A5551C065}" type="pres">
      <dgm:prSet presAssocID="{9FA39C5C-813A-4F0D-B3E6-406FDCAB38C7}" presName="FourNodes_2_text" presStyleLbl="node1" presStyleIdx="3" presStyleCnt="4">
        <dgm:presLayoutVars>
          <dgm:bulletEnabled val="1"/>
        </dgm:presLayoutVars>
      </dgm:prSet>
      <dgm:spPr/>
    </dgm:pt>
    <dgm:pt modelId="{E1F17A48-9E3F-40E9-8760-29C341D04745}" type="pres">
      <dgm:prSet presAssocID="{9FA39C5C-813A-4F0D-B3E6-406FDCAB38C7}" presName="FourNodes_3_text" presStyleLbl="node1" presStyleIdx="3" presStyleCnt="4">
        <dgm:presLayoutVars>
          <dgm:bulletEnabled val="1"/>
        </dgm:presLayoutVars>
      </dgm:prSet>
      <dgm:spPr/>
    </dgm:pt>
    <dgm:pt modelId="{5D49E688-E068-49D1-96C2-D3BA724DF7F5}" type="pres">
      <dgm:prSet presAssocID="{9FA39C5C-813A-4F0D-B3E6-406FDCAB38C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D714FA10-1ADF-4B10-BED6-7BF3C8A87190}" type="presOf" srcId="{9FA39C5C-813A-4F0D-B3E6-406FDCAB38C7}" destId="{59D6E23C-1C87-443A-A15A-631C7C27A66C}" srcOrd="0" destOrd="0" presId="urn:microsoft.com/office/officeart/2005/8/layout/vProcess5"/>
    <dgm:cxn modelId="{25A6A223-7647-4E33-9E85-76A8699B06EB}" type="presOf" srcId="{BE377E50-5447-4588-93E8-9913C551F6CD}" destId="{DA6D2BA3-A600-4BD8-AFA4-2D683ACF1FD1}" srcOrd="0" destOrd="0" presId="urn:microsoft.com/office/officeart/2005/8/layout/vProcess5"/>
    <dgm:cxn modelId="{48D05238-2337-47FA-846D-A9EDEABF3DD0}" type="presOf" srcId="{7F0231EA-82BC-45BB-83AC-1F0E29DE3414}" destId="{F59DECD3-80DC-4430-B384-E790723B4376}" srcOrd="0" destOrd="0" presId="urn:microsoft.com/office/officeart/2005/8/layout/vProcess5"/>
    <dgm:cxn modelId="{9464C446-2A84-4AE3-8BC8-61D395404057}" type="presOf" srcId="{E334F244-D644-4EBA-BFF2-EB43D4EC5C15}" destId="{5D49E688-E068-49D1-96C2-D3BA724DF7F5}" srcOrd="1" destOrd="0" presId="urn:microsoft.com/office/officeart/2005/8/layout/vProcess5"/>
    <dgm:cxn modelId="{50A9C649-48D6-4813-A123-6C13C30F0A03}" type="presOf" srcId="{34B6CE47-A1CD-431B-8861-5731D894ABA4}" destId="{A58B35C3-C753-4A05-92D0-FE29AE36C3BF}" srcOrd="0" destOrd="0" presId="urn:microsoft.com/office/officeart/2005/8/layout/vProcess5"/>
    <dgm:cxn modelId="{7343F051-794D-4B7B-86E4-79EEA992C1B5}" type="presOf" srcId="{0648C722-C513-4E1F-AC22-7FF95EEAE76A}" destId="{4A04FAB5-1B44-4203-98E1-8955F62F694E}" srcOrd="0" destOrd="0" presId="urn:microsoft.com/office/officeart/2005/8/layout/vProcess5"/>
    <dgm:cxn modelId="{FB107172-D830-4BD9-A006-E9AE0B525FB8}" type="presOf" srcId="{BE377E50-5447-4588-93E8-9913C551F6CD}" destId="{458938CB-43B9-4964-A0B0-9AA72A8F2F6A}" srcOrd="1" destOrd="0" presId="urn:microsoft.com/office/officeart/2005/8/layout/vProcess5"/>
    <dgm:cxn modelId="{89DE1E74-7792-41A0-A907-176D2BEF80D9}" type="presOf" srcId="{0648C722-C513-4E1F-AC22-7FF95EEAE76A}" destId="{6AD6A041-3CB9-4FF9-984E-4B2A5551C065}" srcOrd="1" destOrd="0" presId="urn:microsoft.com/office/officeart/2005/8/layout/vProcess5"/>
    <dgm:cxn modelId="{F6183B55-4A73-49F0-913D-FEDB76231218}" srcId="{9FA39C5C-813A-4F0D-B3E6-406FDCAB38C7}" destId="{BE377E50-5447-4588-93E8-9913C551F6CD}" srcOrd="0" destOrd="0" parTransId="{B89C7271-8B65-4944-A6ED-B72106AB8119}" sibTransId="{34B6CE47-A1CD-431B-8861-5731D894ABA4}"/>
    <dgm:cxn modelId="{40562E77-4FD3-4E4B-B857-FA3E83C4A3F6}" srcId="{9FA39C5C-813A-4F0D-B3E6-406FDCAB38C7}" destId="{E334F244-D644-4EBA-BFF2-EB43D4EC5C15}" srcOrd="3" destOrd="0" parTransId="{1ADB02BF-C0C7-46E8-9A62-E751C79AD0D4}" sibTransId="{01F6C037-5685-415A-A6E6-401B4D21E131}"/>
    <dgm:cxn modelId="{A0983F58-667D-4532-B5D4-F53A18A096DD}" type="presOf" srcId="{34E36E11-AF90-45DD-9377-0F81F13281EC}" destId="{ADF47357-1840-470C-ACE0-430CE67795FC}" srcOrd="0" destOrd="0" presId="urn:microsoft.com/office/officeart/2005/8/layout/vProcess5"/>
    <dgm:cxn modelId="{1884B17A-8714-4036-861F-5FC417CC503D}" srcId="{9FA39C5C-813A-4F0D-B3E6-406FDCAB38C7}" destId="{0648C722-C513-4E1F-AC22-7FF95EEAE76A}" srcOrd="1" destOrd="0" parTransId="{1D63389A-8C2E-4517-A9B0-E0C37CDC02C0}" sibTransId="{2F733A57-1251-4720-B80A-774087386822}"/>
    <dgm:cxn modelId="{09E09488-0C38-448F-9A00-F560FE1BB44A}" srcId="{9FA39C5C-813A-4F0D-B3E6-406FDCAB38C7}" destId="{7F0231EA-82BC-45BB-83AC-1F0E29DE3414}" srcOrd="2" destOrd="0" parTransId="{540BF653-1E6D-46F7-A657-E4351914CA83}" sibTransId="{34E36E11-AF90-45DD-9377-0F81F13281EC}"/>
    <dgm:cxn modelId="{B3B3439C-EC65-485F-8A1A-FA1394F8C77E}" type="presOf" srcId="{E334F244-D644-4EBA-BFF2-EB43D4EC5C15}" destId="{3B4E2941-5189-4B8F-8FD3-EEFF96409504}" srcOrd="0" destOrd="0" presId="urn:microsoft.com/office/officeart/2005/8/layout/vProcess5"/>
    <dgm:cxn modelId="{DFC5FAAB-F8CF-4C9E-9CF6-9C7E42DC3F5B}" type="presOf" srcId="{2F733A57-1251-4720-B80A-774087386822}" destId="{093A4126-F589-4B63-9006-771308C9AC54}" srcOrd="0" destOrd="0" presId="urn:microsoft.com/office/officeart/2005/8/layout/vProcess5"/>
    <dgm:cxn modelId="{38E67DB2-3658-4227-B702-9A0AB1194B39}" type="presOf" srcId="{7F0231EA-82BC-45BB-83AC-1F0E29DE3414}" destId="{E1F17A48-9E3F-40E9-8760-29C341D04745}" srcOrd="1" destOrd="0" presId="urn:microsoft.com/office/officeart/2005/8/layout/vProcess5"/>
    <dgm:cxn modelId="{A73DFB30-DF80-4377-9C43-144068B770FE}" type="presParOf" srcId="{59D6E23C-1C87-443A-A15A-631C7C27A66C}" destId="{637DAE40-8F35-4805-8BC5-FB5F3EED9AD0}" srcOrd="0" destOrd="0" presId="urn:microsoft.com/office/officeart/2005/8/layout/vProcess5"/>
    <dgm:cxn modelId="{DD1262E3-4738-4450-8837-D40F4678A8D6}" type="presParOf" srcId="{59D6E23C-1C87-443A-A15A-631C7C27A66C}" destId="{DA6D2BA3-A600-4BD8-AFA4-2D683ACF1FD1}" srcOrd="1" destOrd="0" presId="urn:microsoft.com/office/officeart/2005/8/layout/vProcess5"/>
    <dgm:cxn modelId="{FE73063C-329B-4451-B1DA-4367311A5438}" type="presParOf" srcId="{59D6E23C-1C87-443A-A15A-631C7C27A66C}" destId="{4A04FAB5-1B44-4203-98E1-8955F62F694E}" srcOrd="2" destOrd="0" presId="urn:microsoft.com/office/officeart/2005/8/layout/vProcess5"/>
    <dgm:cxn modelId="{EA25450B-FA1B-429F-85EE-D0D5891009C7}" type="presParOf" srcId="{59D6E23C-1C87-443A-A15A-631C7C27A66C}" destId="{F59DECD3-80DC-4430-B384-E790723B4376}" srcOrd="3" destOrd="0" presId="urn:microsoft.com/office/officeart/2005/8/layout/vProcess5"/>
    <dgm:cxn modelId="{F871A843-F8FE-47C2-A330-92C0F67599C6}" type="presParOf" srcId="{59D6E23C-1C87-443A-A15A-631C7C27A66C}" destId="{3B4E2941-5189-4B8F-8FD3-EEFF96409504}" srcOrd="4" destOrd="0" presId="urn:microsoft.com/office/officeart/2005/8/layout/vProcess5"/>
    <dgm:cxn modelId="{A6E0D87F-9FC6-4271-98BB-39A797DC9A53}" type="presParOf" srcId="{59D6E23C-1C87-443A-A15A-631C7C27A66C}" destId="{A58B35C3-C753-4A05-92D0-FE29AE36C3BF}" srcOrd="5" destOrd="0" presId="urn:microsoft.com/office/officeart/2005/8/layout/vProcess5"/>
    <dgm:cxn modelId="{438C971A-316D-4D9F-9982-6A374F978778}" type="presParOf" srcId="{59D6E23C-1C87-443A-A15A-631C7C27A66C}" destId="{093A4126-F589-4B63-9006-771308C9AC54}" srcOrd="6" destOrd="0" presId="urn:microsoft.com/office/officeart/2005/8/layout/vProcess5"/>
    <dgm:cxn modelId="{47E2FF00-C7DF-46E7-828F-55BD0E12CF7B}" type="presParOf" srcId="{59D6E23C-1C87-443A-A15A-631C7C27A66C}" destId="{ADF47357-1840-470C-ACE0-430CE67795FC}" srcOrd="7" destOrd="0" presId="urn:microsoft.com/office/officeart/2005/8/layout/vProcess5"/>
    <dgm:cxn modelId="{36D14152-F50B-4FA3-BA32-E2B0D63E0552}" type="presParOf" srcId="{59D6E23C-1C87-443A-A15A-631C7C27A66C}" destId="{458938CB-43B9-4964-A0B0-9AA72A8F2F6A}" srcOrd="8" destOrd="0" presId="urn:microsoft.com/office/officeart/2005/8/layout/vProcess5"/>
    <dgm:cxn modelId="{95D46346-B41E-4605-853C-98D7270248CD}" type="presParOf" srcId="{59D6E23C-1C87-443A-A15A-631C7C27A66C}" destId="{6AD6A041-3CB9-4FF9-984E-4B2A5551C065}" srcOrd="9" destOrd="0" presId="urn:microsoft.com/office/officeart/2005/8/layout/vProcess5"/>
    <dgm:cxn modelId="{53D4F051-BE3C-46AB-B317-BC75D905645B}" type="presParOf" srcId="{59D6E23C-1C87-443A-A15A-631C7C27A66C}" destId="{E1F17A48-9E3F-40E9-8760-29C341D04745}" srcOrd="10" destOrd="0" presId="urn:microsoft.com/office/officeart/2005/8/layout/vProcess5"/>
    <dgm:cxn modelId="{B32069E2-B55C-4230-BFAE-70B42DEADA34}" type="presParOf" srcId="{59D6E23C-1C87-443A-A15A-631C7C27A66C}" destId="{5D49E688-E068-49D1-96C2-D3BA724DF7F5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6D2BA3-A600-4BD8-AFA4-2D683ACF1FD1}">
      <dsp:nvSpPr>
        <dsp:cNvPr id="0" name=""/>
        <dsp:cNvSpPr/>
      </dsp:nvSpPr>
      <dsp:spPr>
        <a:xfrm>
          <a:off x="0" y="0"/>
          <a:ext cx="8412480" cy="86875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How the Venture Worked</a:t>
          </a:r>
          <a:endParaRPr lang="en-US" sz="1200" kern="1200" dirty="0"/>
        </a:p>
      </dsp:txBody>
      <dsp:txXfrm>
        <a:off x="25445" y="25445"/>
        <a:ext cx="7401618" cy="817862"/>
      </dsp:txXfrm>
    </dsp:sp>
    <dsp:sp modelId="{4A04FAB5-1B44-4203-98E1-8955F62F694E}">
      <dsp:nvSpPr>
        <dsp:cNvPr id="0" name=""/>
        <dsp:cNvSpPr/>
      </dsp:nvSpPr>
      <dsp:spPr>
        <a:xfrm>
          <a:off x="704545" y="1026707"/>
          <a:ext cx="8412480" cy="868752"/>
        </a:xfrm>
        <a:prstGeom prst="roundRect">
          <a:avLst>
            <a:gd name="adj" fmla="val 10000"/>
          </a:avLst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Identifying the Problem:</a:t>
          </a:r>
          <a:br>
            <a:rPr lang="en-US" sz="1200" kern="1200" dirty="0"/>
          </a:br>
          <a:r>
            <a:rPr lang="en-US" sz="1200" kern="1200" dirty="0"/>
            <a:t>Pickup owners transporting marble from </a:t>
          </a:r>
          <a:r>
            <a:rPr lang="en-US" sz="1200" kern="1200" dirty="0" err="1"/>
            <a:t>Makrana</a:t>
          </a:r>
          <a:r>
            <a:rPr lang="en-US" sz="1200" kern="1200" dirty="0"/>
            <a:t> often struggled to find reliable return bookings for their journeys back. This was both a time-consuming and costly challenge for them.</a:t>
          </a:r>
        </a:p>
      </dsp:txBody>
      <dsp:txXfrm>
        <a:off x="729990" y="1052152"/>
        <a:ext cx="7092355" cy="817862"/>
      </dsp:txXfrm>
    </dsp:sp>
    <dsp:sp modelId="{F59DECD3-80DC-4430-B384-E790723B4376}">
      <dsp:nvSpPr>
        <dsp:cNvPr id="0" name=""/>
        <dsp:cNvSpPr/>
      </dsp:nvSpPr>
      <dsp:spPr>
        <a:xfrm>
          <a:off x="1398574" y="2053415"/>
          <a:ext cx="8412480" cy="868752"/>
        </a:xfrm>
        <a:prstGeom prst="roundRect">
          <a:avLst>
            <a:gd name="adj" fmla="val 10000"/>
          </a:avLst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Solving the Problem:</a:t>
          </a:r>
          <a:br>
            <a:rPr lang="en-US" sz="1200" kern="1200" dirty="0"/>
          </a:br>
          <a:r>
            <a:rPr lang="en-US" sz="1200" kern="1200" dirty="0"/>
            <a:t>Using my network, I arranged a return load booking for a truck traveling from </a:t>
          </a:r>
          <a:r>
            <a:rPr lang="en-US" sz="1200" kern="1200" dirty="0" err="1"/>
            <a:t>Makrana</a:t>
          </a:r>
          <a:r>
            <a:rPr lang="en-US" sz="1200" kern="1200" dirty="0"/>
            <a:t> to Andhra Pradesh. This ensured the pickup owner didn’t face difficulties in securing a return load and could complete the trip without delays </a:t>
          </a:r>
        </a:p>
      </dsp:txBody>
      <dsp:txXfrm>
        <a:off x="1424019" y="2078860"/>
        <a:ext cx="7102871" cy="817862"/>
      </dsp:txXfrm>
    </dsp:sp>
    <dsp:sp modelId="{3B4E2941-5189-4B8F-8FD3-EEFF96409504}">
      <dsp:nvSpPr>
        <dsp:cNvPr id="0" name=""/>
        <dsp:cNvSpPr/>
      </dsp:nvSpPr>
      <dsp:spPr>
        <a:xfrm>
          <a:off x="2103119" y="3080123"/>
          <a:ext cx="8412480" cy="868752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Profit Generation:</a:t>
          </a:r>
          <a:br>
            <a:rPr lang="en-US" sz="1200" kern="1200" dirty="0"/>
          </a:br>
          <a:r>
            <a:rPr lang="en-US" sz="1200" kern="1200" dirty="0"/>
            <a:t>As a mediator, I earned ₹3000 for  successful return load booking arranged. This became a steady source of income by solving the problem of securing return bookings for truck owners.</a:t>
          </a:r>
        </a:p>
      </dsp:txBody>
      <dsp:txXfrm>
        <a:off x="2128564" y="3105568"/>
        <a:ext cx="7092355" cy="817862"/>
      </dsp:txXfrm>
    </dsp:sp>
    <dsp:sp modelId="{A58B35C3-C753-4A05-92D0-FE29AE36C3BF}">
      <dsp:nvSpPr>
        <dsp:cNvPr id="0" name=""/>
        <dsp:cNvSpPr/>
      </dsp:nvSpPr>
      <dsp:spPr>
        <a:xfrm>
          <a:off x="7847790" y="665385"/>
          <a:ext cx="564689" cy="56468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7974845" y="665385"/>
        <a:ext cx="310579" cy="424928"/>
      </dsp:txXfrm>
    </dsp:sp>
    <dsp:sp modelId="{093A4126-F589-4B63-9006-771308C9AC54}">
      <dsp:nvSpPr>
        <dsp:cNvPr id="0" name=""/>
        <dsp:cNvSpPr/>
      </dsp:nvSpPr>
      <dsp:spPr>
        <a:xfrm>
          <a:off x="8552335" y="1692093"/>
          <a:ext cx="564689" cy="56468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679390" y="1692093"/>
        <a:ext cx="310579" cy="424928"/>
      </dsp:txXfrm>
    </dsp:sp>
    <dsp:sp modelId="{ADF47357-1840-470C-ACE0-430CE67795FC}">
      <dsp:nvSpPr>
        <dsp:cNvPr id="0" name=""/>
        <dsp:cNvSpPr/>
      </dsp:nvSpPr>
      <dsp:spPr>
        <a:xfrm>
          <a:off x="9246365" y="2718801"/>
          <a:ext cx="564689" cy="56468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9373420" y="2718801"/>
        <a:ext cx="310579" cy="4249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4364C-FF09-7843-BA15-DD06E9AC50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FDABE2-26F3-1183-52B2-D44806523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ED317-D513-AC57-C2D9-5FB4AA40D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9A7D1-694A-463A-BD4C-FD861D6640F3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92DAB-51CF-C2A6-F538-3A493C826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23400-D280-E1F9-DBAD-857D4ADE5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2EC0-40CB-4E2A-A2EC-863626ED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433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9B0C4-4308-769E-11D2-8143FA63F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15849-8ED5-D76D-316A-06C77B760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6FF8A-0A82-920C-6C52-93B20F09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9A7D1-694A-463A-BD4C-FD861D6640F3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9EDDE-1D43-DDDC-3101-7BFADF86A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96EBB-8DBC-CA11-0B23-34DB89FD5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2EC0-40CB-4E2A-A2EC-863626ED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577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3AF48-52C3-B0D7-E041-8ABFD5102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45B88-3C57-0701-D378-E56471E9A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4B4F6-F9F2-1D56-1F83-B364306E0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9A7D1-694A-463A-BD4C-FD861D6640F3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728B9-A4E0-E00C-6FD3-5CF86F846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72724-6451-A643-DE44-AA7BD25D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2EC0-40CB-4E2A-A2EC-863626ED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874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E0749-A649-13D4-0EF3-A3A298C02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85AE7-5024-5D89-5192-1476298CC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C5C347-2BF0-276F-D873-056763479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12F41-8C51-0A92-8029-678F63A51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9A7D1-694A-463A-BD4C-FD861D6640F3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ECEEB-4B37-DFF2-BBFF-33CAE80C7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9DCF6-D561-CBE8-54BF-312EAE22F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2EC0-40CB-4E2A-A2EC-863626ED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29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B9464-70AA-B34D-8897-6E654842F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188BA-EDC7-C250-D131-D196F775B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950A60-58CB-077E-E4DA-75BA47DFD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48BF68-2FF7-47CA-2D26-2C7BF7AA5E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7A2FCE-504A-E55E-8EFE-F8A9D84750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C25004-2320-ED69-972D-E3D8AEB5A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9A7D1-694A-463A-BD4C-FD861D6640F3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EF3830-E767-7801-A92A-F1109150F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995E65-4D83-6F00-1D8A-BFA66399F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2EC0-40CB-4E2A-A2EC-863626ED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768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C0326-6A88-D73E-9D79-22568635F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5D5D87-042B-6DFE-F782-FF1DBA2CA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9A7D1-694A-463A-BD4C-FD861D6640F3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383512-8866-6495-82F2-33BD2E321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F7ED1-5911-D2B1-CE7C-B73C7A7CF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2EC0-40CB-4E2A-A2EC-863626ED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906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7A07DC-23D7-0975-5446-9C7DF2821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9A7D1-694A-463A-BD4C-FD861D6640F3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4DB35F-1AB2-D376-A547-2E5C140B4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CFD79-4E5B-6263-8991-C05B0B35A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2EC0-40CB-4E2A-A2EC-863626ED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914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E6AFF-BE8F-6183-A054-983A0CA5C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91325-50C5-32A7-8257-E833F1828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11819-20B6-3CA9-0A09-8FEBC2168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16E19-666B-FB79-1A1F-54E976B80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9A7D1-694A-463A-BD4C-FD861D6640F3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30F68-A0AA-B0C5-C581-98E748728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9E94E-BFAD-E4C1-50A9-4EE368624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2EC0-40CB-4E2A-A2EC-863626ED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548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2851C-E1DB-065E-0D69-E055ADBBA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CBD714-BFB6-5300-D4B2-26B92A1C0E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64008-358F-E80F-F950-7D98EDEE4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6EE0DA-50AD-F0B9-9891-8EE032624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9A7D1-694A-463A-BD4C-FD861D6640F3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404A2-8A23-5D26-FB4F-7BFAE2A63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2E3D2-A3F6-A56D-820B-B00AF5C16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2EC0-40CB-4E2A-A2EC-863626ED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14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E61F-FDEF-D0A1-FFF4-DE1E61E5B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396F6A-555E-2B99-15EF-908AC99F9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C9D80-4ADD-2E5A-72AF-93B51679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9A7D1-694A-463A-BD4C-FD861D6640F3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BBB2B-1DFF-ACA9-2DBC-624D0C8FC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9BC10-0529-4600-2656-0B3F23304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2EC0-40CB-4E2A-A2EC-863626ED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48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359265-D1F1-D031-C29A-F67F5ED9D9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24B74F-A71A-7AB3-E586-024C941FE5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90306-865D-905B-E568-43061AFED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9A7D1-694A-463A-BD4C-FD861D6640F3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27447-4F07-1368-D204-9CF798108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AAA39-D6CD-7B2B-A5BE-C18D09CFA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2EC0-40CB-4E2A-A2EC-863626ED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57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BD2051-ACD1-DB32-EEAD-6C7EB62C4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5FD8B-0902-670B-E0DE-74D7789F3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B282A-B1FF-C217-A309-4A53459525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9A7D1-694A-463A-BD4C-FD861D6640F3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19232-3DA0-FDB0-C6BC-BD20E2356C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64D98-772D-F937-22DC-3F442192F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A2EC0-40CB-4E2A-A2EC-863626EDF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093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4" name="Picture 13" descr="Cargo shipping containers in a pile and on a semi-truck at a harbor">
            <a:extLst>
              <a:ext uri="{FF2B5EF4-FFF2-40B4-BE49-F238E27FC236}">
                <a16:creationId xmlns:a16="http://schemas.microsoft.com/office/drawing/2014/main" id="{1855E859-8BBC-2BEF-D93F-264E1310D6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999" r="13900"/>
          <a:stretch/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7F0817-C86B-2080-8290-BC5EC4F49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9946" y="407987"/>
            <a:ext cx="5721484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800" b="1" i="1" u="sng" dirty="0"/>
              <a:t>Title: Mediating Return Load Bookings for Marble Transport - A Venture Story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9FEF6C-4EC5-2858-A6B9-78AF6C33E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2789" y="1808197"/>
            <a:ext cx="5721484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/>
              <a:t>Introduction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 err="1"/>
              <a:t>Makrana</a:t>
            </a:r>
            <a:r>
              <a:rPr lang="en-US" sz="2000" dirty="0"/>
              <a:t> is famous for its marble, but pickup owners delivering marble often face challenges in securing return bookings for their trips back. While they don't travel empty, finding a return load can be time-consuming and difficult.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Seeing this gap, I used my network to help a pickup carrying marble from </a:t>
            </a:r>
            <a:r>
              <a:rPr lang="en-US" sz="2000" dirty="0" err="1"/>
              <a:t>Makrana</a:t>
            </a:r>
            <a:r>
              <a:rPr lang="en-US" sz="2000" dirty="0"/>
              <a:t> to Andhra Pradesh. By arranging a return load booking from Andhra Pradesh, I ensured the pickup owner wouldn't face these challenges. In return, I earned ₹3000 as a commission for acting as a mediator. This simple yet effective solution turned into a profitable venture.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30976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TextBox 2">
            <a:extLst>
              <a:ext uri="{FF2B5EF4-FFF2-40B4-BE49-F238E27FC236}">
                <a16:creationId xmlns:a16="http://schemas.microsoft.com/office/drawing/2014/main" id="{E34D8B3F-75F2-C4AE-E73B-49ED9DA932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0081116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1686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2D634BE-7B41-5CC7-B698-32A698BF7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32" y="331596"/>
            <a:ext cx="11210925" cy="105670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1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Financial Breakdown</a:t>
            </a:r>
          </a:p>
          <a:p>
            <a:pPr marL="0"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0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Here’s how the numbers look for this venture:</a:t>
            </a:r>
          </a:p>
          <a:p>
            <a:pPr marL="0"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8291C02-7508-A178-8BF5-09308B1E0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475207"/>
              </p:ext>
            </p:extLst>
          </p:nvPr>
        </p:nvGraphicFramePr>
        <p:xfrm>
          <a:off x="1268360" y="1573161"/>
          <a:ext cx="8563897" cy="449626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842115">
                  <a:extLst>
                    <a:ext uri="{9D8B030D-6E8A-4147-A177-3AD203B41FA5}">
                      <a16:colId xmlns:a16="http://schemas.microsoft.com/office/drawing/2014/main" val="1607706636"/>
                    </a:ext>
                  </a:extLst>
                </a:gridCol>
                <a:gridCol w="2721782">
                  <a:extLst>
                    <a:ext uri="{9D8B030D-6E8A-4147-A177-3AD203B41FA5}">
                      <a16:colId xmlns:a16="http://schemas.microsoft.com/office/drawing/2014/main" val="1335976826"/>
                    </a:ext>
                  </a:extLst>
                </a:gridCol>
              </a:tblGrid>
              <a:tr h="672911">
                <a:tc>
                  <a:txBody>
                    <a:bodyPr/>
                    <a:lstStyle/>
                    <a:p>
                      <a:r>
                        <a:rPr lang="en-IN" sz="2900" b="1" dirty="0"/>
                        <a:t>Particulars</a:t>
                      </a:r>
                      <a:endParaRPr lang="en-IN" sz="2900" dirty="0"/>
                    </a:p>
                  </a:txBody>
                  <a:tcPr marL="149463" marR="149463" marT="74731" marB="74731" anchor="ctr"/>
                </a:tc>
                <a:tc>
                  <a:txBody>
                    <a:bodyPr/>
                    <a:lstStyle/>
                    <a:p>
                      <a:r>
                        <a:rPr lang="en-IN" sz="2900" b="1"/>
                        <a:t>Amount (₹)</a:t>
                      </a:r>
                      <a:endParaRPr lang="en-IN" sz="2900"/>
                    </a:p>
                  </a:txBody>
                  <a:tcPr marL="149463" marR="149463" marT="74731" marB="74731" anchor="ctr"/>
                </a:tc>
                <a:extLst>
                  <a:ext uri="{0D108BD9-81ED-4DB2-BD59-A6C34878D82A}">
                    <a16:rowId xmlns:a16="http://schemas.microsoft.com/office/drawing/2014/main" val="1077495708"/>
                  </a:ext>
                </a:extLst>
              </a:tr>
              <a:tr h="672911">
                <a:tc>
                  <a:txBody>
                    <a:bodyPr/>
                    <a:lstStyle/>
                    <a:p>
                      <a:r>
                        <a:rPr lang="en-IN" sz="2900" b="1"/>
                        <a:t>Revenue (Commission per truck)</a:t>
                      </a:r>
                      <a:endParaRPr lang="en-IN" sz="2900"/>
                    </a:p>
                  </a:txBody>
                  <a:tcPr marL="149463" marR="149463" marT="74731" marB="7473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3000</a:t>
                      </a:r>
                    </a:p>
                  </a:txBody>
                  <a:tcPr marL="149463" marR="149463" marT="74731" marB="74731" anchor="ctr"/>
                </a:tc>
                <a:extLst>
                  <a:ext uri="{0D108BD9-81ED-4DB2-BD59-A6C34878D82A}">
                    <a16:rowId xmlns:a16="http://schemas.microsoft.com/office/drawing/2014/main" val="3319429456"/>
                  </a:ext>
                </a:extLst>
              </a:tr>
              <a:tr h="672911">
                <a:tc>
                  <a:txBody>
                    <a:bodyPr/>
                    <a:lstStyle/>
                    <a:p>
                      <a:r>
                        <a:rPr lang="en-US" sz="2900" b="1" dirty="0"/>
                        <a:t>Cost of Goods Sold (COGS)</a:t>
                      </a:r>
                      <a:endParaRPr lang="en-US" sz="2900" dirty="0"/>
                    </a:p>
                  </a:txBody>
                  <a:tcPr marL="149463" marR="149463" marT="74731" marB="7473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0</a:t>
                      </a:r>
                    </a:p>
                  </a:txBody>
                  <a:tcPr marL="149463" marR="149463" marT="74731" marB="74731" anchor="ctr"/>
                </a:tc>
                <a:extLst>
                  <a:ext uri="{0D108BD9-81ED-4DB2-BD59-A6C34878D82A}">
                    <a16:rowId xmlns:a16="http://schemas.microsoft.com/office/drawing/2014/main" val="3258015888"/>
                  </a:ext>
                </a:extLst>
              </a:tr>
              <a:tr h="672911">
                <a:tc>
                  <a:txBody>
                    <a:bodyPr/>
                    <a:lstStyle/>
                    <a:p>
                      <a:r>
                        <a:rPr lang="en-IN" sz="2900" b="1" dirty="0"/>
                        <a:t>Gross Profit</a:t>
                      </a:r>
                      <a:endParaRPr lang="en-IN" sz="2900" dirty="0"/>
                    </a:p>
                  </a:txBody>
                  <a:tcPr marL="149463" marR="149463" marT="74731" marB="74731" anchor="ctr"/>
                </a:tc>
                <a:tc>
                  <a:txBody>
                    <a:bodyPr/>
                    <a:lstStyle/>
                    <a:p>
                      <a:r>
                        <a:rPr lang="en-IN" sz="2900"/>
                        <a:t>3000</a:t>
                      </a:r>
                    </a:p>
                  </a:txBody>
                  <a:tcPr marL="149463" marR="149463" marT="74731" marB="74731" anchor="ctr"/>
                </a:tc>
                <a:extLst>
                  <a:ext uri="{0D108BD9-81ED-4DB2-BD59-A6C34878D82A}">
                    <a16:rowId xmlns:a16="http://schemas.microsoft.com/office/drawing/2014/main" val="4133975557"/>
                  </a:ext>
                </a:extLst>
              </a:tr>
              <a:tr h="1131713">
                <a:tc>
                  <a:txBody>
                    <a:bodyPr/>
                    <a:lstStyle/>
                    <a:p>
                      <a:r>
                        <a:rPr lang="en-IN" sz="2900" b="1" dirty="0"/>
                        <a:t>Operating Expenses </a:t>
                      </a:r>
                      <a:endParaRPr lang="en-IN" sz="2900" dirty="0"/>
                    </a:p>
                  </a:txBody>
                  <a:tcPr marL="149463" marR="149463" marT="74731" marB="74731" anchor="ctr"/>
                </a:tc>
                <a:tc>
                  <a:txBody>
                    <a:bodyPr/>
                    <a:lstStyle/>
                    <a:p>
                      <a:r>
                        <a:rPr lang="en-IN" sz="2900" dirty="0"/>
                        <a:t>0</a:t>
                      </a:r>
                    </a:p>
                  </a:txBody>
                  <a:tcPr marL="149463" marR="149463" marT="74731" marB="74731" anchor="ctr"/>
                </a:tc>
                <a:extLst>
                  <a:ext uri="{0D108BD9-81ED-4DB2-BD59-A6C34878D82A}">
                    <a16:rowId xmlns:a16="http://schemas.microsoft.com/office/drawing/2014/main" val="2109005509"/>
                  </a:ext>
                </a:extLst>
              </a:tr>
              <a:tr h="672911">
                <a:tc>
                  <a:txBody>
                    <a:bodyPr/>
                    <a:lstStyle/>
                    <a:p>
                      <a:r>
                        <a:rPr lang="en-IN" sz="2900" b="1"/>
                        <a:t>Net Profit</a:t>
                      </a:r>
                      <a:endParaRPr lang="en-IN" sz="2900"/>
                    </a:p>
                  </a:txBody>
                  <a:tcPr marL="149463" marR="149463" marT="74731" marB="74731" anchor="ctr"/>
                </a:tc>
                <a:tc>
                  <a:txBody>
                    <a:bodyPr/>
                    <a:lstStyle/>
                    <a:p>
                      <a:r>
                        <a:rPr lang="en-IN" sz="2900" dirty="0"/>
                        <a:t>3000</a:t>
                      </a:r>
                    </a:p>
                  </a:txBody>
                  <a:tcPr marL="149463" marR="149463" marT="74731" marB="74731" anchor="ctr"/>
                </a:tc>
                <a:extLst>
                  <a:ext uri="{0D108BD9-81ED-4DB2-BD59-A6C34878D82A}">
                    <a16:rowId xmlns:a16="http://schemas.microsoft.com/office/drawing/2014/main" val="2955681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6291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D8CF61-F76C-B815-7F05-A7DFEA110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Learnings and Takeaways: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Placeholder 5" descr="Two men standing in front of a truck&#10;&#10;AI-generated content may be incorrect.">
            <a:extLst>
              <a:ext uri="{FF2B5EF4-FFF2-40B4-BE49-F238E27FC236}">
                <a16:creationId xmlns:a16="http://schemas.microsoft.com/office/drawing/2014/main" id="{496815A2-743C-DFB0-4682-2D89A62E412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79" r="1" b="21480"/>
          <a:stretch/>
        </p:blipFill>
        <p:spPr>
          <a:xfrm>
            <a:off x="857056" y="511293"/>
            <a:ext cx="4469633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71486-1181-85A1-86D7-E94A1628A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While doing this work, I observed three big gaps that can turn into real opportunities: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1" dirty="0"/>
              <a:t>Pickup owners rarely get return bookings on time</a:t>
            </a:r>
            <a:r>
              <a:rPr lang="en-US" dirty="0"/>
              <a:t>, so they often end up paying transporters (mediators) just to get loads — this cuts into their profits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Other takeaways.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1" dirty="0"/>
              <a:t>Granite worth lakhs is transported daily </a:t>
            </a:r>
            <a:r>
              <a:rPr lang="en-US" b="1"/>
              <a:t>by trucks</a:t>
            </a:r>
            <a:r>
              <a:rPr lang="en-US"/>
              <a:t>, </a:t>
            </a:r>
            <a:r>
              <a:rPr lang="en-US" dirty="0"/>
              <a:t>but there’s usually </a:t>
            </a:r>
            <a:r>
              <a:rPr lang="en-US" b="1" dirty="0"/>
              <a:t>no insurance coverage</a:t>
            </a:r>
            <a:r>
              <a:rPr lang="en-US" dirty="0"/>
              <a:t> for it.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If you ask </a:t>
            </a:r>
            <a:r>
              <a:rPr lang="en-US" b="1" dirty="0"/>
              <a:t>why insurance is needed</a:t>
            </a:r>
            <a:r>
              <a:rPr lang="en-US" dirty="0"/>
              <a:t>, it’s because granite is packed using wooden frames, which </a:t>
            </a:r>
            <a:r>
              <a:rPr lang="en-US" b="1" dirty="0"/>
              <a:t>often break during transport</a:t>
            </a:r>
            <a:r>
              <a:rPr lang="en-US" dirty="0"/>
              <a:t>, leading to major losses.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Solving these issues — with better return load systems and insurance options — can really improve the way marble and granite transport works.</a:t>
            </a:r>
          </a:p>
        </p:txBody>
      </p:sp>
    </p:spTree>
    <p:extLst>
      <p:ext uri="{BB962C8B-B14F-4D97-AF65-F5344CB8AC3E}">
        <p14:creationId xmlns:p14="http://schemas.microsoft.com/office/powerpoint/2010/main" val="2699194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94155814027D40B23D580558BAFCF3" ma:contentTypeVersion="5" ma:contentTypeDescription="Create a new document." ma:contentTypeScope="" ma:versionID="771e140bd63beb2a0ccd72d397004956">
  <xsd:schema xmlns:xsd="http://www.w3.org/2001/XMLSchema" xmlns:xs="http://www.w3.org/2001/XMLSchema" xmlns:p="http://schemas.microsoft.com/office/2006/metadata/properties" xmlns:ns3="c29a26a9-f28f-4ed2-8ad5-6f812e41aef1" targetNamespace="http://schemas.microsoft.com/office/2006/metadata/properties" ma:root="true" ma:fieldsID="512049b5668e7b55e521e757e2abc017" ns3:_="">
    <xsd:import namespace="c29a26a9-f28f-4ed2-8ad5-6f812e41aef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9a26a9-f28f-4ed2-8ad5-6f812e41aef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9F7236A-27C7-4A8D-AB99-2792CD7B76D1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c29a26a9-f28f-4ed2-8ad5-6f812e41aef1"/>
    <ds:schemaRef ds:uri="http://purl.org/dc/elements/1.1/"/>
    <ds:schemaRef ds:uri="http://purl.org/dc/terms/"/>
    <ds:schemaRef ds:uri="http://purl.org/dc/dcmitype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8C0748D-FE76-4195-A633-8D3F590873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9a26a9-f28f-4ed2-8ad5-6f812e41ae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3EE4968-B8F0-42E8-97F8-54C8C32AC32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405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Title: Mediating Return Load Bookings for Marble Transport - A Venture Story</vt:lpstr>
      <vt:lpstr>PowerPoint Presentation</vt:lpstr>
      <vt:lpstr>PowerPoint Presentation</vt:lpstr>
      <vt:lpstr>Learnings and Takeaways: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Nikunj Gour</dc:creator>
  <cp:lastModifiedBy>Nikunj Gour</cp:lastModifiedBy>
  <cp:revision>3</cp:revision>
  <dcterms:created xsi:type="dcterms:W3CDTF">2025-04-07T02:59:47Z</dcterms:created>
  <dcterms:modified xsi:type="dcterms:W3CDTF">2025-04-14T07:02:10Z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0x0101001694155814027D40B23D580558BAFCF3</vt:lpwstr>
  </property>
</Properties>
</file>