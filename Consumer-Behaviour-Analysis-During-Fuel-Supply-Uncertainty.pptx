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9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5E3D3-4BBD-4345-A9EF-D6FC730A5A08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E5ACA73-7A8F-4A4D-9243-9B306845787E}">
      <dgm:prSet/>
      <dgm:spPr/>
      <dgm:t>
        <a:bodyPr/>
        <a:lstStyle/>
        <a:p>
          <a:r>
            <a:rPr lang="en-US"/>
            <a:t>Behavioural Economics – Module 4 Assignment</a:t>
          </a:r>
        </a:p>
      </dgm:t>
    </dgm:pt>
    <dgm:pt modelId="{C640114D-E773-498F-B53D-5110BD09303E}" type="parTrans" cxnId="{B8654EAC-780D-4D80-8C30-1CD4C15EE3C6}">
      <dgm:prSet/>
      <dgm:spPr/>
      <dgm:t>
        <a:bodyPr/>
        <a:lstStyle/>
        <a:p>
          <a:endParaRPr lang="en-US"/>
        </a:p>
      </dgm:t>
    </dgm:pt>
    <dgm:pt modelId="{4B57563C-A823-441D-AD80-04D33D2C7806}" type="sibTrans" cxnId="{B8654EAC-780D-4D80-8C30-1CD4C15EE3C6}">
      <dgm:prSet/>
      <dgm:spPr/>
      <dgm:t>
        <a:bodyPr/>
        <a:lstStyle/>
        <a:p>
          <a:endParaRPr lang="en-US"/>
        </a:p>
      </dgm:t>
    </dgm:pt>
    <dgm:pt modelId="{A6A799E3-F534-4983-A33F-4F70AA9A3032}">
      <dgm:prSet/>
      <dgm:spPr/>
      <dgm:t>
        <a:bodyPr/>
        <a:lstStyle/>
        <a:p>
          <a:r>
            <a:rPr lang="en-US"/>
            <a:t>Nikunj Gour</a:t>
          </a:r>
        </a:p>
      </dgm:t>
    </dgm:pt>
    <dgm:pt modelId="{5E099D60-597C-4434-A593-E4E6D17920F3}" type="parTrans" cxnId="{9106F1CE-3BBE-4C17-8B0F-A109C499DF64}">
      <dgm:prSet/>
      <dgm:spPr/>
      <dgm:t>
        <a:bodyPr/>
        <a:lstStyle/>
        <a:p>
          <a:endParaRPr lang="en-US"/>
        </a:p>
      </dgm:t>
    </dgm:pt>
    <dgm:pt modelId="{4A84BFF5-BC8A-40A9-9471-EB25EAC7F5D6}" type="sibTrans" cxnId="{9106F1CE-3BBE-4C17-8B0F-A109C499DF64}">
      <dgm:prSet/>
      <dgm:spPr/>
      <dgm:t>
        <a:bodyPr/>
        <a:lstStyle/>
        <a:p>
          <a:endParaRPr lang="en-US"/>
        </a:p>
      </dgm:t>
    </dgm:pt>
    <dgm:pt modelId="{11F882BC-A289-401C-A5C7-A1580C8E84B1}" type="pres">
      <dgm:prSet presAssocID="{6125E3D3-4BBD-4345-A9EF-D6FC730A5A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B4C60D-34FF-4CEF-8023-6B6DAFCBD535}" type="pres">
      <dgm:prSet presAssocID="{8E5ACA73-7A8F-4A4D-9243-9B306845787E}" presName="hierRoot1" presStyleCnt="0"/>
      <dgm:spPr/>
    </dgm:pt>
    <dgm:pt modelId="{7FB5CEB1-76CB-4D70-B041-5BB03D93265D}" type="pres">
      <dgm:prSet presAssocID="{8E5ACA73-7A8F-4A4D-9243-9B306845787E}" presName="composite" presStyleCnt="0"/>
      <dgm:spPr/>
    </dgm:pt>
    <dgm:pt modelId="{0D31309E-1C75-4EA2-948F-ACDA426B4D28}" type="pres">
      <dgm:prSet presAssocID="{8E5ACA73-7A8F-4A4D-9243-9B306845787E}" presName="background" presStyleLbl="node0" presStyleIdx="0" presStyleCnt="2"/>
      <dgm:spPr/>
    </dgm:pt>
    <dgm:pt modelId="{EC505B20-FCF1-4BC2-AD72-3CE9A61F564E}" type="pres">
      <dgm:prSet presAssocID="{8E5ACA73-7A8F-4A4D-9243-9B306845787E}" presName="text" presStyleLbl="fgAcc0" presStyleIdx="0" presStyleCnt="2">
        <dgm:presLayoutVars>
          <dgm:chPref val="3"/>
        </dgm:presLayoutVars>
      </dgm:prSet>
      <dgm:spPr/>
    </dgm:pt>
    <dgm:pt modelId="{888A20BA-F7A2-440B-A372-D8E251F11F2B}" type="pres">
      <dgm:prSet presAssocID="{8E5ACA73-7A8F-4A4D-9243-9B306845787E}" presName="hierChild2" presStyleCnt="0"/>
      <dgm:spPr/>
    </dgm:pt>
    <dgm:pt modelId="{0C7F9B86-CC4B-4E78-A15E-884B060EB6A4}" type="pres">
      <dgm:prSet presAssocID="{A6A799E3-F534-4983-A33F-4F70AA9A3032}" presName="hierRoot1" presStyleCnt="0"/>
      <dgm:spPr/>
    </dgm:pt>
    <dgm:pt modelId="{EC8B9A3C-68D8-49EC-81C8-AA6884A4E9C0}" type="pres">
      <dgm:prSet presAssocID="{A6A799E3-F534-4983-A33F-4F70AA9A3032}" presName="composite" presStyleCnt="0"/>
      <dgm:spPr/>
    </dgm:pt>
    <dgm:pt modelId="{BC04DADD-5B02-43B6-A530-E52A8A5D90CE}" type="pres">
      <dgm:prSet presAssocID="{A6A799E3-F534-4983-A33F-4F70AA9A3032}" presName="background" presStyleLbl="node0" presStyleIdx="1" presStyleCnt="2"/>
      <dgm:spPr/>
    </dgm:pt>
    <dgm:pt modelId="{5E6631E9-B1A8-4E16-A872-C9AE33DC2250}" type="pres">
      <dgm:prSet presAssocID="{A6A799E3-F534-4983-A33F-4F70AA9A3032}" presName="text" presStyleLbl="fgAcc0" presStyleIdx="1" presStyleCnt="2">
        <dgm:presLayoutVars>
          <dgm:chPref val="3"/>
        </dgm:presLayoutVars>
      </dgm:prSet>
      <dgm:spPr/>
    </dgm:pt>
    <dgm:pt modelId="{98F514CF-607C-4703-BBD4-4539E495477C}" type="pres">
      <dgm:prSet presAssocID="{A6A799E3-F534-4983-A33F-4F70AA9A3032}" presName="hierChild2" presStyleCnt="0"/>
      <dgm:spPr/>
    </dgm:pt>
  </dgm:ptLst>
  <dgm:cxnLst>
    <dgm:cxn modelId="{377FFE89-1816-4D61-95C4-2A15D46FF528}" type="presOf" srcId="{6125E3D3-4BBD-4345-A9EF-D6FC730A5A08}" destId="{11F882BC-A289-401C-A5C7-A1580C8E84B1}" srcOrd="0" destOrd="0" presId="urn:microsoft.com/office/officeart/2005/8/layout/hierarchy1"/>
    <dgm:cxn modelId="{B8654EAC-780D-4D80-8C30-1CD4C15EE3C6}" srcId="{6125E3D3-4BBD-4345-A9EF-D6FC730A5A08}" destId="{8E5ACA73-7A8F-4A4D-9243-9B306845787E}" srcOrd="0" destOrd="0" parTransId="{C640114D-E773-498F-B53D-5110BD09303E}" sibTransId="{4B57563C-A823-441D-AD80-04D33D2C7806}"/>
    <dgm:cxn modelId="{2BB405BE-EAAF-4F61-A7CD-AEBB911C1574}" type="presOf" srcId="{A6A799E3-F534-4983-A33F-4F70AA9A3032}" destId="{5E6631E9-B1A8-4E16-A872-C9AE33DC2250}" srcOrd="0" destOrd="0" presId="urn:microsoft.com/office/officeart/2005/8/layout/hierarchy1"/>
    <dgm:cxn modelId="{9106F1CE-3BBE-4C17-8B0F-A109C499DF64}" srcId="{6125E3D3-4BBD-4345-A9EF-D6FC730A5A08}" destId="{A6A799E3-F534-4983-A33F-4F70AA9A3032}" srcOrd="1" destOrd="0" parTransId="{5E099D60-597C-4434-A593-E4E6D17920F3}" sibTransId="{4A84BFF5-BC8A-40A9-9471-EB25EAC7F5D6}"/>
    <dgm:cxn modelId="{41E892E8-6905-4E4F-8594-3A6691DFD17E}" type="presOf" srcId="{8E5ACA73-7A8F-4A4D-9243-9B306845787E}" destId="{EC505B20-FCF1-4BC2-AD72-3CE9A61F564E}" srcOrd="0" destOrd="0" presId="urn:microsoft.com/office/officeart/2005/8/layout/hierarchy1"/>
    <dgm:cxn modelId="{4AC52759-ED5F-4C27-B3D5-A84F559D8E5D}" type="presParOf" srcId="{11F882BC-A289-401C-A5C7-A1580C8E84B1}" destId="{0BB4C60D-34FF-4CEF-8023-6B6DAFCBD535}" srcOrd="0" destOrd="0" presId="urn:microsoft.com/office/officeart/2005/8/layout/hierarchy1"/>
    <dgm:cxn modelId="{82F1F30B-E837-487F-BCA7-1ACEDC6F5135}" type="presParOf" srcId="{0BB4C60D-34FF-4CEF-8023-6B6DAFCBD535}" destId="{7FB5CEB1-76CB-4D70-B041-5BB03D93265D}" srcOrd="0" destOrd="0" presId="urn:microsoft.com/office/officeart/2005/8/layout/hierarchy1"/>
    <dgm:cxn modelId="{A9F9DA7C-92DC-4896-8AC2-717DA127341C}" type="presParOf" srcId="{7FB5CEB1-76CB-4D70-B041-5BB03D93265D}" destId="{0D31309E-1C75-4EA2-948F-ACDA426B4D28}" srcOrd="0" destOrd="0" presId="urn:microsoft.com/office/officeart/2005/8/layout/hierarchy1"/>
    <dgm:cxn modelId="{9CE0C2E3-03B3-4936-AB3B-074510BA9D62}" type="presParOf" srcId="{7FB5CEB1-76CB-4D70-B041-5BB03D93265D}" destId="{EC505B20-FCF1-4BC2-AD72-3CE9A61F564E}" srcOrd="1" destOrd="0" presId="urn:microsoft.com/office/officeart/2005/8/layout/hierarchy1"/>
    <dgm:cxn modelId="{7A4895DD-7EE7-49F4-ADF5-301CC3498A4F}" type="presParOf" srcId="{0BB4C60D-34FF-4CEF-8023-6B6DAFCBD535}" destId="{888A20BA-F7A2-440B-A372-D8E251F11F2B}" srcOrd="1" destOrd="0" presId="urn:microsoft.com/office/officeart/2005/8/layout/hierarchy1"/>
    <dgm:cxn modelId="{84ACBE75-D01B-44BA-B79B-7474F526B66D}" type="presParOf" srcId="{11F882BC-A289-401C-A5C7-A1580C8E84B1}" destId="{0C7F9B86-CC4B-4E78-A15E-884B060EB6A4}" srcOrd="1" destOrd="0" presId="urn:microsoft.com/office/officeart/2005/8/layout/hierarchy1"/>
    <dgm:cxn modelId="{155C3E71-92CD-4B8B-8700-DDA8055E2DDD}" type="presParOf" srcId="{0C7F9B86-CC4B-4E78-A15E-884B060EB6A4}" destId="{EC8B9A3C-68D8-49EC-81C8-AA6884A4E9C0}" srcOrd="0" destOrd="0" presId="urn:microsoft.com/office/officeart/2005/8/layout/hierarchy1"/>
    <dgm:cxn modelId="{6FF8E249-CF43-4816-A6DA-C8D18BB63D7C}" type="presParOf" srcId="{EC8B9A3C-68D8-49EC-81C8-AA6884A4E9C0}" destId="{BC04DADD-5B02-43B6-A530-E52A8A5D90CE}" srcOrd="0" destOrd="0" presId="urn:microsoft.com/office/officeart/2005/8/layout/hierarchy1"/>
    <dgm:cxn modelId="{0904CA56-104E-48FC-A1C3-56A172628F58}" type="presParOf" srcId="{EC8B9A3C-68D8-49EC-81C8-AA6884A4E9C0}" destId="{5E6631E9-B1A8-4E16-A872-C9AE33DC2250}" srcOrd="1" destOrd="0" presId="urn:microsoft.com/office/officeart/2005/8/layout/hierarchy1"/>
    <dgm:cxn modelId="{BAA21098-A194-485B-844A-B02E99B0C04D}" type="presParOf" srcId="{0C7F9B86-CC4B-4E78-A15E-884B060EB6A4}" destId="{98F514CF-607C-4703-BBD4-4539E495477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9E0D27-988F-4324-8D9A-16B668DF07F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FD8DE2-4C91-41BF-947B-E2E55FC2DC5E}">
      <dgm:prSet/>
      <dgm:spPr/>
      <dgm:t>
        <a:bodyPr/>
        <a:lstStyle/>
        <a:p>
          <a:r>
            <a:rPr lang="en-US"/>
            <a:t>• Global conflicts can affect oil supply</a:t>
          </a:r>
        </a:p>
      </dgm:t>
    </dgm:pt>
    <dgm:pt modelId="{8CA8256B-E625-4840-B05F-73D7E51545D8}" type="parTrans" cxnId="{CB06896C-56B9-4EDB-953E-7A5EBA89DCA9}">
      <dgm:prSet/>
      <dgm:spPr/>
      <dgm:t>
        <a:bodyPr/>
        <a:lstStyle/>
        <a:p>
          <a:endParaRPr lang="en-US"/>
        </a:p>
      </dgm:t>
    </dgm:pt>
    <dgm:pt modelId="{D339E6C5-7879-4CC4-8FF8-8E6174B9234C}" type="sibTrans" cxnId="{CB06896C-56B9-4EDB-953E-7A5EBA89DCA9}">
      <dgm:prSet/>
      <dgm:spPr/>
      <dgm:t>
        <a:bodyPr/>
        <a:lstStyle/>
        <a:p>
          <a:endParaRPr lang="en-US"/>
        </a:p>
      </dgm:t>
    </dgm:pt>
    <dgm:pt modelId="{0E705BA3-C472-4E1D-A502-DA2E306FF125}">
      <dgm:prSet/>
      <dgm:spPr/>
      <dgm:t>
        <a:bodyPr/>
        <a:lstStyle/>
        <a:p>
          <a:r>
            <a:rPr lang="en-US"/>
            <a:t>• News about shortages may trigger panic behaviour</a:t>
          </a:r>
        </a:p>
      </dgm:t>
    </dgm:pt>
    <dgm:pt modelId="{2141E125-EB52-47DE-977D-4EA903E5F1C0}" type="parTrans" cxnId="{94D30E50-9FEA-4398-80A8-52F0C49EB24B}">
      <dgm:prSet/>
      <dgm:spPr/>
      <dgm:t>
        <a:bodyPr/>
        <a:lstStyle/>
        <a:p>
          <a:endParaRPr lang="en-US"/>
        </a:p>
      </dgm:t>
    </dgm:pt>
    <dgm:pt modelId="{0032376E-A2B2-465C-9288-509D1FE05647}" type="sibTrans" cxnId="{94D30E50-9FEA-4398-80A8-52F0C49EB24B}">
      <dgm:prSet/>
      <dgm:spPr/>
      <dgm:t>
        <a:bodyPr/>
        <a:lstStyle/>
        <a:p>
          <a:endParaRPr lang="en-US"/>
        </a:p>
      </dgm:t>
    </dgm:pt>
    <dgm:pt modelId="{CCDFFF01-B72C-4876-8DAF-6618A5401CDC}">
      <dgm:prSet/>
      <dgm:spPr/>
      <dgm:t>
        <a:bodyPr/>
        <a:lstStyle/>
        <a:p>
          <a:r>
            <a:rPr lang="en-US"/>
            <a:t>• Consumers may refill fuel or LPG earlier</a:t>
          </a:r>
        </a:p>
      </dgm:t>
    </dgm:pt>
    <dgm:pt modelId="{37F01843-1FB3-478D-9DE9-D89D1DB7D7F8}" type="parTrans" cxnId="{8611BA5E-B8F4-4DA6-9C1D-AA79DC6690BD}">
      <dgm:prSet/>
      <dgm:spPr/>
      <dgm:t>
        <a:bodyPr/>
        <a:lstStyle/>
        <a:p>
          <a:endParaRPr lang="en-US"/>
        </a:p>
      </dgm:t>
    </dgm:pt>
    <dgm:pt modelId="{466D839A-D84D-4D50-8853-479A1A45EEB3}" type="sibTrans" cxnId="{8611BA5E-B8F4-4DA6-9C1D-AA79DC6690BD}">
      <dgm:prSet/>
      <dgm:spPr/>
      <dgm:t>
        <a:bodyPr/>
        <a:lstStyle/>
        <a:p>
          <a:endParaRPr lang="en-US"/>
        </a:p>
      </dgm:t>
    </dgm:pt>
    <dgm:pt modelId="{B62F4165-54F4-432D-8D9E-5611A2C7EE26}">
      <dgm:prSet/>
      <dgm:spPr/>
      <dgm:t>
        <a:bodyPr/>
        <a:lstStyle/>
        <a:p>
          <a:r>
            <a:rPr lang="en-US"/>
            <a:t>• Behavioural concepts: Loss aversion, Herd behaviour, Availability bias</a:t>
          </a:r>
        </a:p>
      </dgm:t>
    </dgm:pt>
    <dgm:pt modelId="{39BAD959-FD53-43A7-AA19-75A8EB23DD57}" type="parTrans" cxnId="{4BB5081C-7491-42A9-98A8-5C3A0F5CD9C4}">
      <dgm:prSet/>
      <dgm:spPr/>
      <dgm:t>
        <a:bodyPr/>
        <a:lstStyle/>
        <a:p>
          <a:endParaRPr lang="en-US"/>
        </a:p>
      </dgm:t>
    </dgm:pt>
    <dgm:pt modelId="{4F7D2867-156F-4B24-ADDE-34DF5B633B2E}" type="sibTrans" cxnId="{4BB5081C-7491-42A9-98A8-5C3A0F5CD9C4}">
      <dgm:prSet/>
      <dgm:spPr/>
      <dgm:t>
        <a:bodyPr/>
        <a:lstStyle/>
        <a:p>
          <a:endParaRPr lang="en-US"/>
        </a:p>
      </dgm:t>
    </dgm:pt>
    <dgm:pt modelId="{473F161A-40E7-42F8-BC10-64D8D35C3C01}" type="pres">
      <dgm:prSet presAssocID="{739E0D27-988F-4324-8D9A-16B668DF07F6}" presName="linear" presStyleCnt="0">
        <dgm:presLayoutVars>
          <dgm:animLvl val="lvl"/>
          <dgm:resizeHandles val="exact"/>
        </dgm:presLayoutVars>
      </dgm:prSet>
      <dgm:spPr/>
    </dgm:pt>
    <dgm:pt modelId="{5C75C8EC-22FE-4ACA-B1D1-AB08E2A4AB7C}" type="pres">
      <dgm:prSet presAssocID="{2BFD8DE2-4C91-41BF-947B-E2E55FC2DC5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3BBAAB-07A4-4861-AC71-ED1D3504905A}" type="pres">
      <dgm:prSet presAssocID="{D339E6C5-7879-4CC4-8FF8-8E6174B9234C}" presName="spacer" presStyleCnt="0"/>
      <dgm:spPr/>
    </dgm:pt>
    <dgm:pt modelId="{A78AA31A-C83A-4343-B184-95FC651BA6AC}" type="pres">
      <dgm:prSet presAssocID="{0E705BA3-C472-4E1D-A502-DA2E306FF1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B314C3-58D6-46CA-9F19-792F343E7ED3}" type="pres">
      <dgm:prSet presAssocID="{0032376E-A2B2-465C-9288-509D1FE05647}" presName="spacer" presStyleCnt="0"/>
      <dgm:spPr/>
    </dgm:pt>
    <dgm:pt modelId="{CFA5B36D-635C-4866-A11D-FECA29467AB6}" type="pres">
      <dgm:prSet presAssocID="{CCDFFF01-B72C-4876-8DAF-6618A5401C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0CD0C9-616C-404C-96D4-3DF20A0BED5B}" type="pres">
      <dgm:prSet presAssocID="{466D839A-D84D-4D50-8853-479A1A45EEB3}" presName="spacer" presStyleCnt="0"/>
      <dgm:spPr/>
    </dgm:pt>
    <dgm:pt modelId="{592B0C23-425A-45C8-8E08-123973AB6991}" type="pres">
      <dgm:prSet presAssocID="{B62F4165-54F4-432D-8D9E-5611A2C7EE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B5081C-7491-42A9-98A8-5C3A0F5CD9C4}" srcId="{739E0D27-988F-4324-8D9A-16B668DF07F6}" destId="{B62F4165-54F4-432D-8D9E-5611A2C7EE26}" srcOrd="3" destOrd="0" parTransId="{39BAD959-FD53-43A7-AA19-75A8EB23DD57}" sibTransId="{4F7D2867-156F-4B24-ADDE-34DF5B633B2E}"/>
    <dgm:cxn modelId="{55AFE424-B347-42DC-82FC-23C42B9B69F3}" type="presOf" srcId="{2BFD8DE2-4C91-41BF-947B-E2E55FC2DC5E}" destId="{5C75C8EC-22FE-4ACA-B1D1-AB08E2A4AB7C}" srcOrd="0" destOrd="0" presId="urn:microsoft.com/office/officeart/2005/8/layout/vList2"/>
    <dgm:cxn modelId="{8611BA5E-B8F4-4DA6-9C1D-AA79DC6690BD}" srcId="{739E0D27-988F-4324-8D9A-16B668DF07F6}" destId="{CCDFFF01-B72C-4876-8DAF-6618A5401CDC}" srcOrd="2" destOrd="0" parTransId="{37F01843-1FB3-478D-9DE9-D89D1DB7D7F8}" sibTransId="{466D839A-D84D-4D50-8853-479A1A45EEB3}"/>
    <dgm:cxn modelId="{CB06896C-56B9-4EDB-953E-7A5EBA89DCA9}" srcId="{739E0D27-988F-4324-8D9A-16B668DF07F6}" destId="{2BFD8DE2-4C91-41BF-947B-E2E55FC2DC5E}" srcOrd="0" destOrd="0" parTransId="{8CA8256B-E625-4840-B05F-73D7E51545D8}" sibTransId="{D339E6C5-7879-4CC4-8FF8-8E6174B9234C}"/>
    <dgm:cxn modelId="{94D30E50-9FEA-4398-80A8-52F0C49EB24B}" srcId="{739E0D27-988F-4324-8D9A-16B668DF07F6}" destId="{0E705BA3-C472-4E1D-A502-DA2E306FF125}" srcOrd="1" destOrd="0" parTransId="{2141E125-EB52-47DE-977D-4EA903E5F1C0}" sibTransId="{0032376E-A2B2-465C-9288-509D1FE05647}"/>
    <dgm:cxn modelId="{9A148995-11A7-470A-8049-C645777593BF}" type="presOf" srcId="{739E0D27-988F-4324-8D9A-16B668DF07F6}" destId="{473F161A-40E7-42F8-BC10-64D8D35C3C01}" srcOrd="0" destOrd="0" presId="urn:microsoft.com/office/officeart/2005/8/layout/vList2"/>
    <dgm:cxn modelId="{E2F61EB9-D69F-418C-A094-925E88BC3EA1}" type="presOf" srcId="{0E705BA3-C472-4E1D-A502-DA2E306FF125}" destId="{A78AA31A-C83A-4343-B184-95FC651BA6AC}" srcOrd="0" destOrd="0" presId="urn:microsoft.com/office/officeart/2005/8/layout/vList2"/>
    <dgm:cxn modelId="{ABF2DAC5-8405-46BE-83A2-5F6DE37BE5F7}" type="presOf" srcId="{B62F4165-54F4-432D-8D9E-5611A2C7EE26}" destId="{592B0C23-425A-45C8-8E08-123973AB6991}" srcOrd="0" destOrd="0" presId="urn:microsoft.com/office/officeart/2005/8/layout/vList2"/>
    <dgm:cxn modelId="{FF774BD5-DCD1-43C9-9CC2-C25F41902AF9}" type="presOf" srcId="{CCDFFF01-B72C-4876-8DAF-6618A5401CDC}" destId="{CFA5B36D-635C-4866-A11D-FECA29467AB6}" srcOrd="0" destOrd="0" presId="urn:microsoft.com/office/officeart/2005/8/layout/vList2"/>
    <dgm:cxn modelId="{F0402CD8-E623-44D9-A999-664EE3D548F7}" type="presParOf" srcId="{473F161A-40E7-42F8-BC10-64D8D35C3C01}" destId="{5C75C8EC-22FE-4ACA-B1D1-AB08E2A4AB7C}" srcOrd="0" destOrd="0" presId="urn:microsoft.com/office/officeart/2005/8/layout/vList2"/>
    <dgm:cxn modelId="{0E3C491F-8380-4F3F-A06C-7A8E0C5A3CB5}" type="presParOf" srcId="{473F161A-40E7-42F8-BC10-64D8D35C3C01}" destId="{D63BBAAB-07A4-4861-AC71-ED1D3504905A}" srcOrd="1" destOrd="0" presId="urn:microsoft.com/office/officeart/2005/8/layout/vList2"/>
    <dgm:cxn modelId="{DFFABD40-7E2E-4D24-AAE2-722ED524C815}" type="presParOf" srcId="{473F161A-40E7-42F8-BC10-64D8D35C3C01}" destId="{A78AA31A-C83A-4343-B184-95FC651BA6AC}" srcOrd="2" destOrd="0" presId="urn:microsoft.com/office/officeart/2005/8/layout/vList2"/>
    <dgm:cxn modelId="{61938EE2-AEE7-44CF-8822-A639C3ED2700}" type="presParOf" srcId="{473F161A-40E7-42F8-BC10-64D8D35C3C01}" destId="{BDB314C3-58D6-46CA-9F19-792F343E7ED3}" srcOrd="3" destOrd="0" presId="urn:microsoft.com/office/officeart/2005/8/layout/vList2"/>
    <dgm:cxn modelId="{807DCE46-A7B9-447B-B253-A443B02DAB68}" type="presParOf" srcId="{473F161A-40E7-42F8-BC10-64D8D35C3C01}" destId="{CFA5B36D-635C-4866-A11D-FECA29467AB6}" srcOrd="4" destOrd="0" presId="urn:microsoft.com/office/officeart/2005/8/layout/vList2"/>
    <dgm:cxn modelId="{6C8D400D-3099-4469-A5D2-A5BE7A1AA27A}" type="presParOf" srcId="{473F161A-40E7-42F8-BC10-64D8D35C3C01}" destId="{270CD0C9-616C-404C-96D4-3DF20A0BED5B}" srcOrd="5" destOrd="0" presId="urn:microsoft.com/office/officeart/2005/8/layout/vList2"/>
    <dgm:cxn modelId="{C2315AAD-7CD6-40E2-9CEA-A0373D9FF85F}" type="presParOf" srcId="{473F161A-40E7-42F8-BC10-64D8D35C3C01}" destId="{592B0C23-425A-45C8-8E08-123973AB69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BEB29C-B387-4075-8AAF-027003DD9B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7E2B707-D00F-4599-8253-AEA6879896CD}">
      <dgm:prSet/>
      <dgm:spPr/>
      <dgm:t>
        <a:bodyPr/>
        <a:lstStyle/>
        <a:p>
          <a:r>
            <a:rPr lang="en-US"/>
            <a:t>Sample size: 52 respondents</a:t>
          </a:r>
        </a:p>
      </dgm:t>
    </dgm:pt>
    <dgm:pt modelId="{24A747D6-73BE-45CD-8407-7A353A419237}" type="parTrans" cxnId="{91529C99-D145-4CB4-8B65-A57DA0B9320C}">
      <dgm:prSet/>
      <dgm:spPr/>
      <dgm:t>
        <a:bodyPr/>
        <a:lstStyle/>
        <a:p>
          <a:endParaRPr lang="en-US"/>
        </a:p>
      </dgm:t>
    </dgm:pt>
    <dgm:pt modelId="{BED79916-E002-4B3C-8D10-9194C57B1DC4}" type="sibTrans" cxnId="{91529C99-D145-4CB4-8B65-A57DA0B9320C}">
      <dgm:prSet/>
      <dgm:spPr/>
      <dgm:t>
        <a:bodyPr/>
        <a:lstStyle/>
        <a:p>
          <a:endParaRPr lang="en-US"/>
        </a:p>
      </dgm:t>
    </dgm:pt>
    <dgm:pt modelId="{8DF99795-BC3B-4F61-B6B4-497CAB66C833}">
      <dgm:prSet/>
      <dgm:spPr/>
      <dgm:t>
        <a:bodyPr/>
        <a:lstStyle/>
        <a:p>
          <a:r>
            <a:rPr lang="en-US"/>
            <a:t>Control group: Message stating fuel supply is stable</a:t>
          </a:r>
        </a:p>
      </dgm:t>
    </dgm:pt>
    <dgm:pt modelId="{E3555541-E478-48F5-B33B-47FEB921DA26}" type="parTrans" cxnId="{A92386E7-F180-40C9-91A3-447F3FC8EB06}">
      <dgm:prSet/>
      <dgm:spPr/>
      <dgm:t>
        <a:bodyPr/>
        <a:lstStyle/>
        <a:p>
          <a:endParaRPr lang="en-US"/>
        </a:p>
      </dgm:t>
    </dgm:pt>
    <dgm:pt modelId="{2837AA82-37A3-4C9F-A309-CF361370242C}" type="sibTrans" cxnId="{A92386E7-F180-40C9-91A3-447F3FC8EB06}">
      <dgm:prSet/>
      <dgm:spPr/>
      <dgm:t>
        <a:bodyPr/>
        <a:lstStyle/>
        <a:p>
          <a:endParaRPr lang="en-US"/>
        </a:p>
      </dgm:t>
    </dgm:pt>
    <dgm:pt modelId="{4E9EE180-2135-4048-A31F-0BA37A4C321F}">
      <dgm:prSet/>
      <dgm:spPr/>
      <dgm:t>
        <a:bodyPr/>
        <a:lstStyle/>
        <a:p>
          <a:r>
            <a:rPr lang="en-US"/>
            <a:t>Treatment group: Message about geopolitical conflict affecting supply</a:t>
          </a:r>
        </a:p>
      </dgm:t>
    </dgm:pt>
    <dgm:pt modelId="{F6C9AC7A-B527-4AB7-A540-2236118F536F}" type="parTrans" cxnId="{3DF8CEA3-5ED1-4166-87FE-4BC20D8C2D7C}">
      <dgm:prSet/>
      <dgm:spPr/>
      <dgm:t>
        <a:bodyPr/>
        <a:lstStyle/>
        <a:p>
          <a:endParaRPr lang="en-US"/>
        </a:p>
      </dgm:t>
    </dgm:pt>
    <dgm:pt modelId="{7BB0CD33-77C2-4392-98CC-B20EE797D3C3}" type="sibTrans" cxnId="{3DF8CEA3-5ED1-4166-87FE-4BC20D8C2D7C}">
      <dgm:prSet/>
      <dgm:spPr/>
      <dgm:t>
        <a:bodyPr/>
        <a:lstStyle/>
        <a:p>
          <a:endParaRPr lang="en-US"/>
        </a:p>
      </dgm:t>
    </dgm:pt>
    <dgm:pt modelId="{70682E59-88B2-4E57-8535-862EA03FCF1C}">
      <dgm:prSet/>
      <dgm:spPr/>
      <dgm:t>
        <a:bodyPr/>
        <a:lstStyle/>
        <a:p>
          <a:r>
            <a:rPr lang="en-US"/>
            <a:t>Outcome variables: Fuel refill likelihood, LPG booking likelihood, Herd behaviour</a:t>
          </a:r>
        </a:p>
      </dgm:t>
    </dgm:pt>
    <dgm:pt modelId="{E854695D-4410-4B92-BB5F-40E0C024EC20}" type="parTrans" cxnId="{2E5688D4-F3DD-4DE7-ACA5-ED5D1A2A04F7}">
      <dgm:prSet/>
      <dgm:spPr/>
      <dgm:t>
        <a:bodyPr/>
        <a:lstStyle/>
        <a:p>
          <a:endParaRPr lang="en-US"/>
        </a:p>
      </dgm:t>
    </dgm:pt>
    <dgm:pt modelId="{161FE846-0E92-488D-881E-B30DAB3FED63}" type="sibTrans" cxnId="{2E5688D4-F3DD-4DE7-ACA5-ED5D1A2A04F7}">
      <dgm:prSet/>
      <dgm:spPr/>
      <dgm:t>
        <a:bodyPr/>
        <a:lstStyle/>
        <a:p>
          <a:endParaRPr lang="en-US"/>
        </a:p>
      </dgm:t>
    </dgm:pt>
    <dgm:pt modelId="{97C704D1-6241-4947-8A7E-B9C4173111C7}" type="pres">
      <dgm:prSet presAssocID="{7DBEB29C-B387-4075-8AAF-027003DD9B35}" presName="linear" presStyleCnt="0">
        <dgm:presLayoutVars>
          <dgm:animLvl val="lvl"/>
          <dgm:resizeHandles val="exact"/>
        </dgm:presLayoutVars>
      </dgm:prSet>
      <dgm:spPr/>
    </dgm:pt>
    <dgm:pt modelId="{2CA3B872-4A00-4CD6-844F-F23B160E03D1}" type="pres">
      <dgm:prSet presAssocID="{E7E2B707-D00F-4599-8253-AEA6879896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BEFCF1-4B1C-4088-9E6C-BC8B3033C21B}" type="pres">
      <dgm:prSet presAssocID="{BED79916-E002-4B3C-8D10-9194C57B1DC4}" presName="spacer" presStyleCnt="0"/>
      <dgm:spPr/>
    </dgm:pt>
    <dgm:pt modelId="{34FDBF11-2CA0-4735-8D1E-6179395BC9B3}" type="pres">
      <dgm:prSet presAssocID="{8DF99795-BC3B-4F61-B6B4-497CAB66C8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3A793F0-9774-4EB2-9BDE-C768B99302DE}" type="pres">
      <dgm:prSet presAssocID="{2837AA82-37A3-4C9F-A309-CF361370242C}" presName="spacer" presStyleCnt="0"/>
      <dgm:spPr/>
    </dgm:pt>
    <dgm:pt modelId="{7BDD3CC1-2BCF-4BB2-8A2B-F1DA5EF96E9D}" type="pres">
      <dgm:prSet presAssocID="{4E9EE180-2135-4048-A31F-0BA37A4C32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7A359FA-CCD4-4B30-8F05-59DB53FDC46D}" type="pres">
      <dgm:prSet presAssocID="{7BB0CD33-77C2-4392-98CC-B20EE797D3C3}" presName="spacer" presStyleCnt="0"/>
      <dgm:spPr/>
    </dgm:pt>
    <dgm:pt modelId="{470EF663-B030-4E5B-9816-74CB33AD390B}" type="pres">
      <dgm:prSet presAssocID="{70682E59-88B2-4E57-8535-862EA03FCF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A33B3A-80AB-48B2-93AE-D550530D7958}" type="presOf" srcId="{7DBEB29C-B387-4075-8AAF-027003DD9B35}" destId="{97C704D1-6241-4947-8A7E-B9C4173111C7}" srcOrd="0" destOrd="0" presId="urn:microsoft.com/office/officeart/2005/8/layout/vList2"/>
    <dgm:cxn modelId="{B397A177-C3B8-40E4-8C1D-889FAB19893F}" type="presOf" srcId="{70682E59-88B2-4E57-8535-862EA03FCF1C}" destId="{470EF663-B030-4E5B-9816-74CB33AD390B}" srcOrd="0" destOrd="0" presId="urn:microsoft.com/office/officeart/2005/8/layout/vList2"/>
    <dgm:cxn modelId="{36F0D682-E92E-412E-9140-BCB9AE2280E5}" type="presOf" srcId="{8DF99795-BC3B-4F61-B6B4-497CAB66C833}" destId="{34FDBF11-2CA0-4735-8D1E-6179395BC9B3}" srcOrd="0" destOrd="0" presId="urn:microsoft.com/office/officeart/2005/8/layout/vList2"/>
    <dgm:cxn modelId="{91529C99-D145-4CB4-8B65-A57DA0B9320C}" srcId="{7DBEB29C-B387-4075-8AAF-027003DD9B35}" destId="{E7E2B707-D00F-4599-8253-AEA6879896CD}" srcOrd="0" destOrd="0" parTransId="{24A747D6-73BE-45CD-8407-7A353A419237}" sibTransId="{BED79916-E002-4B3C-8D10-9194C57B1DC4}"/>
    <dgm:cxn modelId="{3DF8CEA3-5ED1-4166-87FE-4BC20D8C2D7C}" srcId="{7DBEB29C-B387-4075-8AAF-027003DD9B35}" destId="{4E9EE180-2135-4048-A31F-0BA37A4C321F}" srcOrd="2" destOrd="0" parTransId="{F6C9AC7A-B527-4AB7-A540-2236118F536F}" sibTransId="{7BB0CD33-77C2-4392-98CC-B20EE797D3C3}"/>
    <dgm:cxn modelId="{AC0BF5B2-86E1-486E-B8D1-27D850E35EC3}" type="presOf" srcId="{E7E2B707-D00F-4599-8253-AEA6879896CD}" destId="{2CA3B872-4A00-4CD6-844F-F23B160E03D1}" srcOrd="0" destOrd="0" presId="urn:microsoft.com/office/officeart/2005/8/layout/vList2"/>
    <dgm:cxn modelId="{2E5688D4-F3DD-4DE7-ACA5-ED5D1A2A04F7}" srcId="{7DBEB29C-B387-4075-8AAF-027003DD9B35}" destId="{70682E59-88B2-4E57-8535-862EA03FCF1C}" srcOrd="3" destOrd="0" parTransId="{E854695D-4410-4B92-BB5F-40E0C024EC20}" sibTransId="{161FE846-0E92-488D-881E-B30DAB3FED63}"/>
    <dgm:cxn modelId="{A92386E7-F180-40C9-91A3-447F3FC8EB06}" srcId="{7DBEB29C-B387-4075-8AAF-027003DD9B35}" destId="{8DF99795-BC3B-4F61-B6B4-497CAB66C833}" srcOrd="1" destOrd="0" parTransId="{E3555541-E478-48F5-B33B-47FEB921DA26}" sibTransId="{2837AA82-37A3-4C9F-A309-CF361370242C}"/>
    <dgm:cxn modelId="{EDDFB3F3-2EDF-45FE-A6CE-21AFC35A511C}" type="presOf" srcId="{4E9EE180-2135-4048-A31F-0BA37A4C321F}" destId="{7BDD3CC1-2BCF-4BB2-8A2B-F1DA5EF96E9D}" srcOrd="0" destOrd="0" presId="urn:microsoft.com/office/officeart/2005/8/layout/vList2"/>
    <dgm:cxn modelId="{F97337EA-CD7D-4C4A-ABAD-DD2A36C7D5B9}" type="presParOf" srcId="{97C704D1-6241-4947-8A7E-B9C4173111C7}" destId="{2CA3B872-4A00-4CD6-844F-F23B160E03D1}" srcOrd="0" destOrd="0" presId="urn:microsoft.com/office/officeart/2005/8/layout/vList2"/>
    <dgm:cxn modelId="{826E675E-2EC9-4387-8FB9-505F0EFA5B23}" type="presParOf" srcId="{97C704D1-6241-4947-8A7E-B9C4173111C7}" destId="{8EBEFCF1-4B1C-4088-9E6C-BC8B3033C21B}" srcOrd="1" destOrd="0" presId="urn:microsoft.com/office/officeart/2005/8/layout/vList2"/>
    <dgm:cxn modelId="{2956CEA9-1349-4E12-841B-A5B950DB6BFE}" type="presParOf" srcId="{97C704D1-6241-4947-8A7E-B9C4173111C7}" destId="{34FDBF11-2CA0-4735-8D1E-6179395BC9B3}" srcOrd="2" destOrd="0" presId="urn:microsoft.com/office/officeart/2005/8/layout/vList2"/>
    <dgm:cxn modelId="{553EC67E-38F2-4A95-A09D-B510494285A1}" type="presParOf" srcId="{97C704D1-6241-4947-8A7E-B9C4173111C7}" destId="{93A793F0-9774-4EB2-9BDE-C768B99302DE}" srcOrd="3" destOrd="0" presId="urn:microsoft.com/office/officeart/2005/8/layout/vList2"/>
    <dgm:cxn modelId="{1503727D-DBBF-4EEA-86F7-DBCF50E46641}" type="presParOf" srcId="{97C704D1-6241-4947-8A7E-B9C4173111C7}" destId="{7BDD3CC1-2BCF-4BB2-8A2B-F1DA5EF96E9D}" srcOrd="4" destOrd="0" presId="urn:microsoft.com/office/officeart/2005/8/layout/vList2"/>
    <dgm:cxn modelId="{8033728A-2E36-4500-84C8-8C9402C037F5}" type="presParOf" srcId="{97C704D1-6241-4947-8A7E-B9C4173111C7}" destId="{37A359FA-CCD4-4B30-8F05-59DB53FDC46D}" srcOrd="5" destOrd="0" presId="urn:microsoft.com/office/officeart/2005/8/layout/vList2"/>
    <dgm:cxn modelId="{BEE84CB6-1805-43AA-AF58-5B4312806339}" type="presParOf" srcId="{97C704D1-6241-4947-8A7E-B9C4173111C7}" destId="{470EF663-B030-4E5B-9816-74CB33AD39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C0520A-3363-49BC-9482-DF3DBBEBBB9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6642EB-BD8A-47C0-BB28-E86123B8B600}">
      <dgm:prSet/>
      <dgm:spPr/>
      <dgm:t>
        <a:bodyPr/>
        <a:lstStyle/>
        <a:p>
          <a:r>
            <a:rPr lang="en-US"/>
            <a:t>H0: Crisis news does not affect panic buying behaviour</a:t>
          </a:r>
        </a:p>
      </dgm:t>
    </dgm:pt>
    <dgm:pt modelId="{2702E47F-48C6-462B-A578-A697D3CC2DA1}" type="parTrans" cxnId="{6E52C6F1-3454-4927-B682-6F4C0400B310}">
      <dgm:prSet/>
      <dgm:spPr/>
      <dgm:t>
        <a:bodyPr/>
        <a:lstStyle/>
        <a:p>
          <a:endParaRPr lang="en-US"/>
        </a:p>
      </dgm:t>
    </dgm:pt>
    <dgm:pt modelId="{961D58C8-A3C0-4534-8034-9681C3B121E5}" type="sibTrans" cxnId="{6E52C6F1-3454-4927-B682-6F4C0400B310}">
      <dgm:prSet/>
      <dgm:spPr/>
      <dgm:t>
        <a:bodyPr/>
        <a:lstStyle/>
        <a:p>
          <a:endParaRPr lang="en-US"/>
        </a:p>
      </dgm:t>
    </dgm:pt>
    <dgm:pt modelId="{A3A8DA9C-3519-47FD-A078-F0BBE23FBA51}">
      <dgm:prSet/>
      <dgm:spPr/>
      <dgm:t>
        <a:bodyPr/>
        <a:lstStyle/>
        <a:p>
          <a:r>
            <a:rPr lang="en-US"/>
            <a:t>H1: Crisis news increases panic buying behaviour</a:t>
          </a:r>
        </a:p>
      </dgm:t>
    </dgm:pt>
    <dgm:pt modelId="{AAA696A7-23B7-4FD2-9EF3-1E6966B608B3}" type="parTrans" cxnId="{6FB4E88D-C5EC-4385-9872-F30D1F0038E9}">
      <dgm:prSet/>
      <dgm:spPr/>
      <dgm:t>
        <a:bodyPr/>
        <a:lstStyle/>
        <a:p>
          <a:endParaRPr lang="en-US"/>
        </a:p>
      </dgm:t>
    </dgm:pt>
    <dgm:pt modelId="{8F862D9F-9653-4FD3-9847-BC95B0948B7B}" type="sibTrans" cxnId="{6FB4E88D-C5EC-4385-9872-F30D1F0038E9}">
      <dgm:prSet/>
      <dgm:spPr/>
      <dgm:t>
        <a:bodyPr/>
        <a:lstStyle/>
        <a:p>
          <a:endParaRPr lang="en-US"/>
        </a:p>
      </dgm:t>
    </dgm:pt>
    <dgm:pt modelId="{4633EB4E-7D47-4998-88C1-A725C21DD835}" type="pres">
      <dgm:prSet presAssocID="{BAC0520A-3363-49BC-9482-DF3DBBEBBB92}" presName="outerComposite" presStyleCnt="0">
        <dgm:presLayoutVars>
          <dgm:chMax val="5"/>
          <dgm:dir/>
          <dgm:resizeHandles val="exact"/>
        </dgm:presLayoutVars>
      </dgm:prSet>
      <dgm:spPr/>
    </dgm:pt>
    <dgm:pt modelId="{E2199831-C6CC-4073-BA2D-A13C950429C4}" type="pres">
      <dgm:prSet presAssocID="{BAC0520A-3363-49BC-9482-DF3DBBEBBB92}" presName="dummyMaxCanvas" presStyleCnt="0">
        <dgm:presLayoutVars/>
      </dgm:prSet>
      <dgm:spPr/>
    </dgm:pt>
    <dgm:pt modelId="{9F950DB8-FC80-4A41-B30D-0F6539DB4083}" type="pres">
      <dgm:prSet presAssocID="{BAC0520A-3363-49BC-9482-DF3DBBEBBB92}" presName="TwoNodes_1" presStyleLbl="node1" presStyleIdx="0" presStyleCnt="2">
        <dgm:presLayoutVars>
          <dgm:bulletEnabled val="1"/>
        </dgm:presLayoutVars>
      </dgm:prSet>
      <dgm:spPr/>
    </dgm:pt>
    <dgm:pt modelId="{7A417D7E-0B35-4B85-9DE2-302274C1C012}" type="pres">
      <dgm:prSet presAssocID="{BAC0520A-3363-49BC-9482-DF3DBBEBBB92}" presName="TwoNodes_2" presStyleLbl="node1" presStyleIdx="1" presStyleCnt="2">
        <dgm:presLayoutVars>
          <dgm:bulletEnabled val="1"/>
        </dgm:presLayoutVars>
      </dgm:prSet>
      <dgm:spPr/>
    </dgm:pt>
    <dgm:pt modelId="{EFF35ED0-1960-4519-A231-945F71ED21F8}" type="pres">
      <dgm:prSet presAssocID="{BAC0520A-3363-49BC-9482-DF3DBBEBBB92}" presName="TwoConn_1-2" presStyleLbl="fgAccFollowNode1" presStyleIdx="0" presStyleCnt="1">
        <dgm:presLayoutVars>
          <dgm:bulletEnabled val="1"/>
        </dgm:presLayoutVars>
      </dgm:prSet>
      <dgm:spPr/>
    </dgm:pt>
    <dgm:pt modelId="{6D394219-C571-41B9-9D77-07D671A82F1E}" type="pres">
      <dgm:prSet presAssocID="{BAC0520A-3363-49BC-9482-DF3DBBEBBB92}" presName="TwoNodes_1_text" presStyleLbl="node1" presStyleIdx="1" presStyleCnt="2">
        <dgm:presLayoutVars>
          <dgm:bulletEnabled val="1"/>
        </dgm:presLayoutVars>
      </dgm:prSet>
      <dgm:spPr/>
    </dgm:pt>
    <dgm:pt modelId="{9D67B308-1F30-42D2-99DD-E8DEFA99DA95}" type="pres">
      <dgm:prSet presAssocID="{BAC0520A-3363-49BC-9482-DF3DBBEBBB92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D5698309-7FE7-4131-8939-DB054D82E5D4}" type="presOf" srcId="{A3A8DA9C-3519-47FD-A078-F0BBE23FBA51}" destId="{9D67B308-1F30-42D2-99DD-E8DEFA99DA95}" srcOrd="1" destOrd="0" presId="urn:microsoft.com/office/officeart/2005/8/layout/vProcess5"/>
    <dgm:cxn modelId="{1B007F39-A66F-4D58-B586-02F3520E3A7F}" type="presOf" srcId="{F26642EB-BD8A-47C0-BB28-E86123B8B600}" destId="{6D394219-C571-41B9-9D77-07D671A82F1E}" srcOrd="1" destOrd="0" presId="urn:microsoft.com/office/officeart/2005/8/layout/vProcess5"/>
    <dgm:cxn modelId="{6FB4E88D-C5EC-4385-9872-F30D1F0038E9}" srcId="{BAC0520A-3363-49BC-9482-DF3DBBEBBB92}" destId="{A3A8DA9C-3519-47FD-A078-F0BBE23FBA51}" srcOrd="1" destOrd="0" parTransId="{AAA696A7-23B7-4FD2-9EF3-1E6966B608B3}" sibTransId="{8F862D9F-9653-4FD3-9847-BC95B0948B7B}"/>
    <dgm:cxn modelId="{3B83E1A2-1429-400B-91ED-CF034E521CF7}" type="presOf" srcId="{BAC0520A-3363-49BC-9482-DF3DBBEBBB92}" destId="{4633EB4E-7D47-4998-88C1-A725C21DD835}" srcOrd="0" destOrd="0" presId="urn:microsoft.com/office/officeart/2005/8/layout/vProcess5"/>
    <dgm:cxn modelId="{AECE47E2-889F-477D-8C23-40FF1BB657D6}" type="presOf" srcId="{961D58C8-A3C0-4534-8034-9681C3B121E5}" destId="{EFF35ED0-1960-4519-A231-945F71ED21F8}" srcOrd="0" destOrd="0" presId="urn:microsoft.com/office/officeart/2005/8/layout/vProcess5"/>
    <dgm:cxn modelId="{18BA47EC-B18C-4394-B524-B4F0BA994D83}" type="presOf" srcId="{F26642EB-BD8A-47C0-BB28-E86123B8B600}" destId="{9F950DB8-FC80-4A41-B30D-0F6539DB4083}" srcOrd="0" destOrd="0" presId="urn:microsoft.com/office/officeart/2005/8/layout/vProcess5"/>
    <dgm:cxn modelId="{6E52C6F1-3454-4927-B682-6F4C0400B310}" srcId="{BAC0520A-3363-49BC-9482-DF3DBBEBBB92}" destId="{F26642EB-BD8A-47C0-BB28-E86123B8B600}" srcOrd="0" destOrd="0" parTransId="{2702E47F-48C6-462B-A578-A697D3CC2DA1}" sibTransId="{961D58C8-A3C0-4534-8034-9681C3B121E5}"/>
    <dgm:cxn modelId="{5DA655FA-0650-404C-AE83-C1FA7B42999F}" type="presOf" srcId="{A3A8DA9C-3519-47FD-A078-F0BBE23FBA51}" destId="{7A417D7E-0B35-4B85-9DE2-302274C1C012}" srcOrd="0" destOrd="0" presId="urn:microsoft.com/office/officeart/2005/8/layout/vProcess5"/>
    <dgm:cxn modelId="{D4E2BFAB-536B-4874-9588-58E8A07CC73D}" type="presParOf" srcId="{4633EB4E-7D47-4998-88C1-A725C21DD835}" destId="{E2199831-C6CC-4073-BA2D-A13C950429C4}" srcOrd="0" destOrd="0" presId="urn:microsoft.com/office/officeart/2005/8/layout/vProcess5"/>
    <dgm:cxn modelId="{A3E8D870-76E0-43EA-B1B4-EEE4AB2DB02C}" type="presParOf" srcId="{4633EB4E-7D47-4998-88C1-A725C21DD835}" destId="{9F950DB8-FC80-4A41-B30D-0F6539DB4083}" srcOrd="1" destOrd="0" presId="urn:microsoft.com/office/officeart/2005/8/layout/vProcess5"/>
    <dgm:cxn modelId="{7764766C-EF10-4349-BB76-1CD29800DD8E}" type="presParOf" srcId="{4633EB4E-7D47-4998-88C1-A725C21DD835}" destId="{7A417D7E-0B35-4B85-9DE2-302274C1C012}" srcOrd="2" destOrd="0" presId="urn:microsoft.com/office/officeart/2005/8/layout/vProcess5"/>
    <dgm:cxn modelId="{CF516A70-6243-4B4D-8B3A-75D6A62103C4}" type="presParOf" srcId="{4633EB4E-7D47-4998-88C1-A725C21DD835}" destId="{EFF35ED0-1960-4519-A231-945F71ED21F8}" srcOrd="3" destOrd="0" presId="urn:microsoft.com/office/officeart/2005/8/layout/vProcess5"/>
    <dgm:cxn modelId="{3C60B088-7170-4FC0-803D-F5F63B50B828}" type="presParOf" srcId="{4633EB4E-7D47-4998-88C1-A725C21DD835}" destId="{6D394219-C571-41B9-9D77-07D671A82F1E}" srcOrd="4" destOrd="0" presId="urn:microsoft.com/office/officeart/2005/8/layout/vProcess5"/>
    <dgm:cxn modelId="{E1DC4B45-B89F-4251-948A-E8C286E00A7C}" type="presParOf" srcId="{4633EB4E-7D47-4998-88C1-A725C21DD835}" destId="{9D67B308-1F30-42D2-99DD-E8DEFA99DA9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37D974-73DC-47BA-A9AE-83038B15C15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3851BF7-2E7E-481A-8140-59B3AB8704B4}">
      <dgm:prSet/>
      <dgm:spPr/>
      <dgm:t>
        <a:bodyPr/>
        <a:lstStyle/>
        <a:p>
          <a:r>
            <a:rPr lang="en-US"/>
            <a:t>Crisis news did not significantly increase panic buying behaviour</a:t>
          </a:r>
        </a:p>
      </dgm:t>
    </dgm:pt>
    <dgm:pt modelId="{70E753A0-5A1D-47ED-AFB3-F7250FCC36E4}" type="parTrans" cxnId="{706129C9-9A5E-41AC-9D65-57BA8A514EE3}">
      <dgm:prSet/>
      <dgm:spPr/>
      <dgm:t>
        <a:bodyPr/>
        <a:lstStyle/>
        <a:p>
          <a:endParaRPr lang="en-US"/>
        </a:p>
      </dgm:t>
    </dgm:pt>
    <dgm:pt modelId="{876E0D31-6017-4705-9D7F-9FBDDCBDF878}" type="sibTrans" cxnId="{706129C9-9A5E-41AC-9D65-57BA8A514EE3}">
      <dgm:prSet/>
      <dgm:spPr/>
      <dgm:t>
        <a:bodyPr/>
        <a:lstStyle/>
        <a:p>
          <a:endParaRPr lang="en-US"/>
        </a:p>
      </dgm:t>
    </dgm:pt>
    <dgm:pt modelId="{7A544A28-3BF0-4F09-AA34-1A4BF657F552}">
      <dgm:prSet/>
      <dgm:spPr/>
      <dgm:t>
        <a:bodyPr/>
        <a:lstStyle/>
        <a:p>
          <a:r>
            <a:rPr lang="en-US"/>
            <a:t>Differences between control and treatment groups were small</a:t>
          </a:r>
        </a:p>
      </dgm:t>
    </dgm:pt>
    <dgm:pt modelId="{66A9A5A2-C94D-4502-91AD-9ABA8A784276}" type="parTrans" cxnId="{410D722E-2657-4626-A387-44981F491275}">
      <dgm:prSet/>
      <dgm:spPr/>
      <dgm:t>
        <a:bodyPr/>
        <a:lstStyle/>
        <a:p>
          <a:endParaRPr lang="en-US"/>
        </a:p>
      </dgm:t>
    </dgm:pt>
    <dgm:pt modelId="{50B2CD44-ECD4-4BC3-8312-75AE39792CB5}" type="sibTrans" cxnId="{410D722E-2657-4626-A387-44981F491275}">
      <dgm:prSet/>
      <dgm:spPr/>
      <dgm:t>
        <a:bodyPr/>
        <a:lstStyle/>
        <a:p>
          <a:endParaRPr lang="en-US"/>
        </a:p>
      </dgm:t>
    </dgm:pt>
    <dgm:pt modelId="{6D26F8B4-F41C-440B-BD4C-9A1AF22B48CD}">
      <dgm:prSet/>
      <dgm:spPr/>
      <dgm:t>
        <a:bodyPr/>
        <a:lstStyle/>
        <a:p>
          <a:r>
            <a:rPr lang="en-US"/>
            <a:t>Consumers in the sample showed relatively stable behaviour</a:t>
          </a:r>
        </a:p>
      </dgm:t>
    </dgm:pt>
    <dgm:pt modelId="{5A9E3E5E-EB71-4D56-A511-26DB00DCBB8D}" type="parTrans" cxnId="{4CEB952C-7568-421C-82FD-395F39708220}">
      <dgm:prSet/>
      <dgm:spPr/>
      <dgm:t>
        <a:bodyPr/>
        <a:lstStyle/>
        <a:p>
          <a:endParaRPr lang="en-US"/>
        </a:p>
      </dgm:t>
    </dgm:pt>
    <dgm:pt modelId="{D1E20654-9E5E-41AB-81C5-E89CA01A800E}" type="sibTrans" cxnId="{4CEB952C-7568-421C-82FD-395F39708220}">
      <dgm:prSet/>
      <dgm:spPr/>
      <dgm:t>
        <a:bodyPr/>
        <a:lstStyle/>
        <a:p>
          <a:endParaRPr lang="en-US"/>
        </a:p>
      </dgm:t>
    </dgm:pt>
    <dgm:pt modelId="{9DE104D1-65B2-4CE4-8B46-0FD87997FA24}" type="pres">
      <dgm:prSet presAssocID="{FF37D974-73DC-47BA-A9AE-83038B15C1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555AC2-3481-415E-BAC9-694CC7FE68A8}" type="pres">
      <dgm:prSet presAssocID="{D3851BF7-2E7E-481A-8140-59B3AB8704B4}" presName="hierRoot1" presStyleCnt="0"/>
      <dgm:spPr/>
    </dgm:pt>
    <dgm:pt modelId="{D30783F7-561B-4109-A9C4-547EB79A448A}" type="pres">
      <dgm:prSet presAssocID="{D3851BF7-2E7E-481A-8140-59B3AB8704B4}" presName="composite" presStyleCnt="0"/>
      <dgm:spPr/>
    </dgm:pt>
    <dgm:pt modelId="{5F5CF14F-47BF-4B98-9090-5C86BA2F7DBC}" type="pres">
      <dgm:prSet presAssocID="{D3851BF7-2E7E-481A-8140-59B3AB8704B4}" presName="background" presStyleLbl="node0" presStyleIdx="0" presStyleCnt="3"/>
      <dgm:spPr/>
    </dgm:pt>
    <dgm:pt modelId="{7B4A51FD-89EA-4B1A-B3DF-D5D6369AA220}" type="pres">
      <dgm:prSet presAssocID="{D3851BF7-2E7E-481A-8140-59B3AB8704B4}" presName="text" presStyleLbl="fgAcc0" presStyleIdx="0" presStyleCnt="3">
        <dgm:presLayoutVars>
          <dgm:chPref val="3"/>
        </dgm:presLayoutVars>
      </dgm:prSet>
      <dgm:spPr/>
    </dgm:pt>
    <dgm:pt modelId="{69820E8F-D492-40F8-AEFF-62EF0BF9CCE5}" type="pres">
      <dgm:prSet presAssocID="{D3851BF7-2E7E-481A-8140-59B3AB8704B4}" presName="hierChild2" presStyleCnt="0"/>
      <dgm:spPr/>
    </dgm:pt>
    <dgm:pt modelId="{CEB45C74-8B30-47DF-A801-FC8F65E4BF13}" type="pres">
      <dgm:prSet presAssocID="{7A544A28-3BF0-4F09-AA34-1A4BF657F552}" presName="hierRoot1" presStyleCnt="0"/>
      <dgm:spPr/>
    </dgm:pt>
    <dgm:pt modelId="{FC1E7631-7175-48AF-ABDA-97C98AEB34CB}" type="pres">
      <dgm:prSet presAssocID="{7A544A28-3BF0-4F09-AA34-1A4BF657F552}" presName="composite" presStyleCnt="0"/>
      <dgm:spPr/>
    </dgm:pt>
    <dgm:pt modelId="{D33E5DCC-2C6A-4F36-B14F-91D357FB696F}" type="pres">
      <dgm:prSet presAssocID="{7A544A28-3BF0-4F09-AA34-1A4BF657F552}" presName="background" presStyleLbl="node0" presStyleIdx="1" presStyleCnt="3"/>
      <dgm:spPr/>
    </dgm:pt>
    <dgm:pt modelId="{CF33FE27-2388-4259-8B55-C963D2BDD8D5}" type="pres">
      <dgm:prSet presAssocID="{7A544A28-3BF0-4F09-AA34-1A4BF657F552}" presName="text" presStyleLbl="fgAcc0" presStyleIdx="1" presStyleCnt="3">
        <dgm:presLayoutVars>
          <dgm:chPref val="3"/>
        </dgm:presLayoutVars>
      </dgm:prSet>
      <dgm:spPr/>
    </dgm:pt>
    <dgm:pt modelId="{F08D3726-2F44-4947-877E-123A981F37F2}" type="pres">
      <dgm:prSet presAssocID="{7A544A28-3BF0-4F09-AA34-1A4BF657F552}" presName="hierChild2" presStyleCnt="0"/>
      <dgm:spPr/>
    </dgm:pt>
    <dgm:pt modelId="{C0CCC03F-29AA-4829-A8AD-03C68FAB21EA}" type="pres">
      <dgm:prSet presAssocID="{6D26F8B4-F41C-440B-BD4C-9A1AF22B48CD}" presName="hierRoot1" presStyleCnt="0"/>
      <dgm:spPr/>
    </dgm:pt>
    <dgm:pt modelId="{0E3C9132-0A0B-4FE0-AABA-B05523EDE1E0}" type="pres">
      <dgm:prSet presAssocID="{6D26F8B4-F41C-440B-BD4C-9A1AF22B48CD}" presName="composite" presStyleCnt="0"/>
      <dgm:spPr/>
    </dgm:pt>
    <dgm:pt modelId="{F8574D84-01D2-4A27-A1F8-DABFD4D71975}" type="pres">
      <dgm:prSet presAssocID="{6D26F8B4-F41C-440B-BD4C-9A1AF22B48CD}" presName="background" presStyleLbl="node0" presStyleIdx="2" presStyleCnt="3"/>
      <dgm:spPr/>
    </dgm:pt>
    <dgm:pt modelId="{3328CC69-8691-4EF9-B594-C583B40F9F5F}" type="pres">
      <dgm:prSet presAssocID="{6D26F8B4-F41C-440B-BD4C-9A1AF22B48CD}" presName="text" presStyleLbl="fgAcc0" presStyleIdx="2" presStyleCnt="3">
        <dgm:presLayoutVars>
          <dgm:chPref val="3"/>
        </dgm:presLayoutVars>
      </dgm:prSet>
      <dgm:spPr/>
    </dgm:pt>
    <dgm:pt modelId="{5917FBFC-1EFF-4348-8C8E-CD1AF874D635}" type="pres">
      <dgm:prSet presAssocID="{6D26F8B4-F41C-440B-BD4C-9A1AF22B48CD}" presName="hierChild2" presStyleCnt="0"/>
      <dgm:spPr/>
    </dgm:pt>
  </dgm:ptLst>
  <dgm:cxnLst>
    <dgm:cxn modelId="{4CEB952C-7568-421C-82FD-395F39708220}" srcId="{FF37D974-73DC-47BA-A9AE-83038B15C15E}" destId="{6D26F8B4-F41C-440B-BD4C-9A1AF22B48CD}" srcOrd="2" destOrd="0" parTransId="{5A9E3E5E-EB71-4D56-A511-26DB00DCBB8D}" sibTransId="{D1E20654-9E5E-41AB-81C5-E89CA01A800E}"/>
    <dgm:cxn modelId="{410D722E-2657-4626-A387-44981F491275}" srcId="{FF37D974-73DC-47BA-A9AE-83038B15C15E}" destId="{7A544A28-3BF0-4F09-AA34-1A4BF657F552}" srcOrd="1" destOrd="0" parTransId="{66A9A5A2-C94D-4502-91AD-9ABA8A784276}" sibTransId="{50B2CD44-ECD4-4BC3-8312-75AE39792CB5}"/>
    <dgm:cxn modelId="{67771F4D-5990-4318-8B2D-7D38D18E33D0}" type="presOf" srcId="{FF37D974-73DC-47BA-A9AE-83038B15C15E}" destId="{9DE104D1-65B2-4CE4-8B46-0FD87997FA24}" srcOrd="0" destOrd="0" presId="urn:microsoft.com/office/officeart/2005/8/layout/hierarchy1"/>
    <dgm:cxn modelId="{04E4C354-E712-4731-9D57-7C59A6D357F9}" type="presOf" srcId="{7A544A28-3BF0-4F09-AA34-1A4BF657F552}" destId="{CF33FE27-2388-4259-8B55-C963D2BDD8D5}" srcOrd="0" destOrd="0" presId="urn:microsoft.com/office/officeart/2005/8/layout/hierarchy1"/>
    <dgm:cxn modelId="{36749784-0171-47A5-8D5E-EF256F4BBB9D}" type="presOf" srcId="{D3851BF7-2E7E-481A-8140-59B3AB8704B4}" destId="{7B4A51FD-89EA-4B1A-B3DF-D5D6369AA220}" srcOrd="0" destOrd="0" presId="urn:microsoft.com/office/officeart/2005/8/layout/hierarchy1"/>
    <dgm:cxn modelId="{E7E414AF-E6CD-468C-9CA9-6A49EEF6700F}" type="presOf" srcId="{6D26F8B4-F41C-440B-BD4C-9A1AF22B48CD}" destId="{3328CC69-8691-4EF9-B594-C583B40F9F5F}" srcOrd="0" destOrd="0" presId="urn:microsoft.com/office/officeart/2005/8/layout/hierarchy1"/>
    <dgm:cxn modelId="{706129C9-9A5E-41AC-9D65-57BA8A514EE3}" srcId="{FF37D974-73DC-47BA-A9AE-83038B15C15E}" destId="{D3851BF7-2E7E-481A-8140-59B3AB8704B4}" srcOrd="0" destOrd="0" parTransId="{70E753A0-5A1D-47ED-AFB3-F7250FCC36E4}" sibTransId="{876E0D31-6017-4705-9D7F-9FBDDCBDF878}"/>
    <dgm:cxn modelId="{42DBCAD0-AEDD-4C1C-A78B-5D2C410EBC65}" type="presParOf" srcId="{9DE104D1-65B2-4CE4-8B46-0FD87997FA24}" destId="{78555AC2-3481-415E-BAC9-694CC7FE68A8}" srcOrd="0" destOrd="0" presId="urn:microsoft.com/office/officeart/2005/8/layout/hierarchy1"/>
    <dgm:cxn modelId="{7145F160-02CF-4DDE-ABC4-450E9001937A}" type="presParOf" srcId="{78555AC2-3481-415E-BAC9-694CC7FE68A8}" destId="{D30783F7-561B-4109-A9C4-547EB79A448A}" srcOrd="0" destOrd="0" presId="urn:microsoft.com/office/officeart/2005/8/layout/hierarchy1"/>
    <dgm:cxn modelId="{A6A69843-C108-422D-85D5-E1B252E3A665}" type="presParOf" srcId="{D30783F7-561B-4109-A9C4-547EB79A448A}" destId="{5F5CF14F-47BF-4B98-9090-5C86BA2F7DBC}" srcOrd="0" destOrd="0" presId="urn:microsoft.com/office/officeart/2005/8/layout/hierarchy1"/>
    <dgm:cxn modelId="{B56B8AB6-72D9-486B-BDC6-32DB861309C3}" type="presParOf" srcId="{D30783F7-561B-4109-A9C4-547EB79A448A}" destId="{7B4A51FD-89EA-4B1A-B3DF-D5D6369AA220}" srcOrd="1" destOrd="0" presId="urn:microsoft.com/office/officeart/2005/8/layout/hierarchy1"/>
    <dgm:cxn modelId="{1C75DF92-20CA-4C96-A78B-3081FBD7FFB3}" type="presParOf" srcId="{78555AC2-3481-415E-BAC9-694CC7FE68A8}" destId="{69820E8F-D492-40F8-AEFF-62EF0BF9CCE5}" srcOrd="1" destOrd="0" presId="urn:microsoft.com/office/officeart/2005/8/layout/hierarchy1"/>
    <dgm:cxn modelId="{5CC3A10F-A886-42EE-8289-269B40D9A0B1}" type="presParOf" srcId="{9DE104D1-65B2-4CE4-8B46-0FD87997FA24}" destId="{CEB45C74-8B30-47DF-A801-FC8F65E4BF13}" srcOrd="1" destOrd="0" presId="urn:microsoft.com/office/officeart/2005/8/layout/hierarchy1"/>
    <dgm:cxn modelId="{1920459F-1F0B-4A9E-B2A2-087A30C2EFEF}" type="presParOf" srcId="{CEB45C74-8B30-47DF-A801-FC8F65E4BF13}" destId="{FC1E7631-7175-48AF-ABDA-97C98AEB34CB}" srcOrd="0" destOrd="0" presId="urn:microsoft.com/office/officeart/2005/8/layout/hierarchy1"/>
    <dgm:cxn modelId="{9E822F58-D62A-4676-B458-0FB4E8ADAD79}" type="presParOf" srcId="{FC1E7631-7175-48AF-ABDA-97C98AEB34CB}" destId="{D33E5DCC-2C6A-4F36-B14F-91D357FB696F}" srcOrd="0" destOrd="0" presId="urn:microsoft.com/office/officeart/2005/8/layout/hierarchy1"/>
    <dgm:cxn modelId="{ED9D4BAB-CDCF-44CA-843D-4166E5B754F1}" type="presParOf" srcId="{FC1E7631-7175-48AF-ABDA-97C98AEB34CB}" destId="{CF33FE27-2388-4259-8B55-C963D2BDD8D5}" srcOrd="1" destOrd="0" presId="urn:microsoft.com/office/officeart/2005/8/layout/hierarchy1"/>
    <dgm:cxn modelId="{F8146DCC-7933-4BE1-8253-E9711D1C5191}" type="presParOf" srcId="{CEB45C74-8B30-47DF-A801-FC8F65E4BF13}" destId="{F08D3726-2F44-4947-877E-123A981F37F2}" srcOrd="1" destOrd="0" presId="urn:microsoft.com/office/officeart/2005/8/layout/hierarchy1"/>
    <dgm:cxn modelId="{787CC19C-5A4A-4978-8DA4-E8766B5D1855}" type="presParOf" srcId="{9DE104D1-65B2-4CE4-8B46-0FD87997FA24}" destId="{C0CCC03F-29AA-4829-A8AD-03C68FAB21EA}" srcOrd="2" destOrd="0" presId="urn:microsoft.com/office/officeart/2005/8/layout/hierarchy1"/>
    <dgm:cxn modelId="{1B66E4E3-6D22-4827-B446-B1ACCC1E8DB5}" type="presParOf" srcId="{C0CCC03F-29AA-4829-A8AD-03C68FAB21EA}" destId="{0E3C9132-0A0B-4FE0-AABA-B05523EDE1E0}" srcOrd="0" destOrd="0" presId="urn:microsoft.com/office/officeart/2005/8/layout/hierarchy1"/>
    <dgm:cxn modelId="{A2B305E7-15B2-4159-A8DD-87CAFA4EE280}" type="presParOf" srcId="{0E3C9132-0A0B-4FE0-AABA-B05523EDE1E0}" destId="{F8574D84-01D2-4A27-A1F8-DABFD4D71975}" srcOrd="0" destOrd="0" presId="urn:microsoft.com/office/officeart/2005/8/layout/hierarchy1"/>
    <dgm:cxn modelId="{39C2528D-771D-4C41-9F99-BBCF50BCA00D}" type="presParOf" srcId="{0E3C9132-0A0B-4FE0-AABA-B05523EDE1E0}" destId="{3328CC69-8691-4EF9-B594-C583B40F9F5F}" srcOrd="1" destOrd="0" presId="urn:microsoft.com/office/officeart/2005/8/layout/hierarchy1"/>
    <dgm:cxn modelId="{D8EAF46C-01B0-4176-AAC0-27C7776CAF14}" type="presParOf" srcId="{C0CCC03F-29AA-4829-A8AD-03C68FAB21EA}" destId="{5917FBFC-1EFF-4348-8C8E-CD1AF874D63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1309E-1C75-4EA2-948F-ACDA426B4D28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05B20-FCF1-4BC2-AD72-3CE9A61F564E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Behavioural Economics – Module 4 Assignment</a:t>
          </a:r>
        </a:p>
      </dsp:txBody>
      <dsp:txXfrm>
        <a:off x="456496" y="980400"/>
        <a:ext cx="3381034" cy="2099279"/>
      </dsp:txXfrm>
    </dsp:sp>
    <dsp:sp modelId="{BC04DADD-5B02-43B6-A530-E52A8A5D90C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631E9-B1A8-4E16-A872-C9AE33DC225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Nikunj Gour</a:t>
          </a:r>
        </a:p>
      </dsp:txBody>
      <dsp:txXfrm>
        <a:off x="4748523" y="980400"/>
        <a:ext cx="3381034" cy="20992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5C8EC-22FE-4ACA-B1D1-AB08E2A4AB7C}">
      <dsp:nvSpPr>
        <dsp:cNvPr id="0" name=""/>
        <dsp:cNvSpPr/>
      </dsp:nvSpPr>
      <dsp:spPr>
        <a:xfrm>
          <a:off x="0" y="1755"/>
          <a:ext cx="8195871" cy="8739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Global conflicts can affect oil supply</a:t>
          </a:r>
        </a:p>
      </dsp:txBody>
      <dsp:txXfrm>
        <a:off x="42663" y="44418"/>
        <a:ext cx="8110545" cy="788627"/>
      </dsp:txXfrm>
    </dsp:sp>
    <dsp:sp modelId="{A78AA31A-C83A-4343-B184-95FC651BA6AC}">
      <dsp:nvSpPr>
        <dsp:cNvPr id="0" name=""/>
        <dsp:cNvSpPr/>
      </dsp:nvSpPr>
      <dsp:spPr>
        <a:xfrm>
          <a:off x="0" y="939069"/>
          <a:ext cx="8195871" cy="87395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News about shortages may trigger panic behaviour</a:t>
          </a:r>
        </a:p>
      </dsp:txBody>
      <dsp:txXfrm>
        <a:off x="42663" y="981732"/>
        <a:ext cx="8110545" cy="788627"/>
      </dsp:txXfrm>
    </dsp:sp>
    <dsp:sp modelId="{CFA5B36D-635C-4866-A11D-FECA29467AB6}">
      <dsp:nvSpPr>
        <dsp:cNvPr id="0" name=""/>
        <dsp:cNvSpPr/>
      </dsp:nvSpPr>
      <dsp:spPr>
        <a:xfrm>
          <a:off x="0" y="1876382"/>
          <a:ext cx="8195871" cy="87395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Consumers may refill fuel or LPG earlier</a:t>
          </a:r>
        </a:p>
      </dsp:txBody>
      <dsp:txXfrm>
        <a:off x="42663" y="1919045"/>
        <a:ext cx="8110545" cy="788627"/>
      </dsp:txXfrm>
    </dsp:sp>
    <dsp:sp modelId="{592B0C23-425A-45C8-8E08-123973AB6991}">
      <dsp:nvSpPr>
        <dsp:cNvPr id="0" name=""/>
        <dsp:cNvSpPr/>
      </dsp:nvSpPr>
      <dsp:spPr>
        <a:xfrm>
          <a:off x="0" y="2813695"/>
          <a:ext cx="8195871" cy="87395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Behavioural concepts: Loss aversion, Herd behaviour, Availability bias</a:t>
          </a:r>
        </a:p>
      </dsp:txBody>
      <dsp:txXfrm>
        <a:off x="42663" y="2856358"/>
        <a:ext cx="8110545" cy="7886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3B872-4A00-4CD6-844F-F23B160E03D1}">
      <dsp:nvSpPr>
        <dsp:cNvPr id="0" name=""/>
        <dsp:cNvSpPr/>
      </dsp:nvSpPr>
      <dsp:spPr>
        <a:xfrm>
          <a:off x="0" y="1755"/>
          <a:ext cx="8195871" cy="8739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Sample size: 52 respondents</a:t>
          </a:r>
        </a:p>
      </dsp:txBody>
      <dsp:txXfrm>
        <a:off x="42663" y="44418"/>
        <a:ext cx="8110545" cy="788627"/>
      </dsp:txXfrm>
    </dsp:sp>
    <dsp:sp modelId="{34FDBF11-2CA0-4735-8D1E-6179395BC9B3}">
      <dsp:nvSpPr>
        <dsp:cNvPr id="0" name=""/>
        <dsp:cNvSpPr/>
      </dsp:nvSpPr>
      <dsp:spPr>
        <a:xfrm>
          <a:off x="0" y="939069"/>
          <a:ext cx="8195871" cy="873953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Control group: Message stating fuel supply is stable</a:t>
          </a:r>
        </a:p>
      </dsp:txBody>
      <dsp:txXfrm>
        <a:off x="42663" y="981732"/>
        <a:ext cx="8110545" cy="788627"/>
      </dsp:txXfrm>
    </dsp:sp>
    <dsp:sp modelId="{7BDD3CC1-2BCF-4BB2-8A2B-F1DA5EF96E9D}">
      <dsp:nvSpPr>
        <dsp:cNvPr id="0" name=""/>
        <dsp:cNvSpPr/>
      </dsp:nvSpPr>
      <dsp:spPr>
        <a:xfrm>
          <a:off x="0" y="1876382"/>
          <a:ext cx="8195871" cy="873953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Treatment group: Message about geopolitical conflict affecting supply</a:t>
          </a:r>
        </a:p>
      </dsp:txBody>
      <dsp:txXfrm>
        <a:off x="42663" y="1919045"/>
        <a:ext cx="8110545" cy="788627"/>
      </dsp:txXfrm>
    </dsp:sp>
    <dsp:sp modelId="{470EF663-B030-4E5B-9816-74CB33AD390B}">
      <dsp:nvSpPr>
        <dsp:cNvPr id="0" name=""/>
        <dsp:cNvSpPr/>
      </dsp:nvSpPr>
      <dsp:spPr>
        <a:xfrm>
          <a:off x="0" y="2813695"/>
          <a:ext cx="8195871" cy="873953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Outcome variables: Fuel refill likelihood, LPG booking likelihood, Herd behaviour</a:t>
          </a:r>
        </a:p>
      </dsp:txBody>
      <dsp:txXfrm>
        <a:off x="42663" y="2856358"/>
        <a:ext cx="8110545" cy="7886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50DB8-FC80-4A41-B30D-0F6539DB4083}">
      <dsp:nvSpPr>
        <dsp:cNvPr id="0" name=""/>
        <dsp:cNvSpPr/>
      </dsp:nvSpPr>
      <dsp:spPr>
        <a:xfrm>
          <a:off x="0" y="0"/>
          <a:ext cx="7128642" cy="18143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H0: Crisis news does not affect panic buying behaviour</a:t>
          </a:r>
        </a:p>
      </dsp:txBody>
      <dsp:txXfrm>
        <a:off x="53139" y="53139"/>
        <a:ext cx="5253407" cy="1708036"/>
      </dsp:txXfrm>
    </dsp:sp>
    <dsp:sp modelId="{7A417D7E-0B35-4B85-9DE2-302274C1C012}">
      <dsp:nvSpPr>
        <dsp:cNvPr id="0" name=""/>
        <dsp:cNvSpPr/>
      </dsp:nvSpPr>
      <dsp:spPr>
        <a:xfrm>
          <a:off x="1257995" y="2217495"/>
          <a:ext cx="7128642" cy="181431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H1: Crisis news increases panic buying behaviour</a:t>
          </a:r>
        </a:p>
      </dsp:txBody>
      <dsp:txXfrm>
        <a:off x="1311134" y="2270634"/>
        <a:ext cx="4585064" cy="1708036"/>
      </dsp:txXfrm>
    </dsp:sp>
    <dsp:sp modelId="{EFF35ED0-1960-4519-A231-945F71ED21F8}">
      <dsp:nvSpPr>
        <dsp:cNvPr id="0" name=""/>
        <dsp:cNvSpPr/>
      </dsp:nvSpPr>
      <dsp:spPr>
        <a:xfrm>
          <a:off x="5949337" y="1426252"/>
          <a:ext cx="1179304" cy="117930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214680" y="1426252"/>
        <a:ext cx="648618" cy="8874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5CF14F-47BF-4B98-9090-5C86BA2F7DBC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A51FD-89EA-4B1A-B3DF-D5D6369AA220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Crisis news did not significantly increase panic buying behaviour</a:t>
          </a:r>
        </a:p>
      </dsp:txBody>
      <dsp:txXfrm>
        <a:off x="298991" y="1277365"/>
        <a:ext cx="2219346" cy="1377989"/>
      </dsp:txXfrm>
    </dsp:sp>
    <dsp:sp modelId="{D33E5DCC-2C6A-4F36-B14F-91D357FB696F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3FE27-2388-4259-8B55-C963D2BDD8D5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Differences between control and treatment groups were small</a:t>
          </a:r>
        </a:p>
      </dsp:txBody>
      <dsp:txXfrm>
        <a:off x="3116322" y="1277365"/>
        <a:ext cx="2219346" cy="1377989"/>
      </dsp:txXfrm>
    </dsp:sp>
    <dsp:sp modelId="{F8574D84-01D2-4A27-A1F8-DABFD4D71975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8CC69-8691-4EF9-B594-C583B40F9F5F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Consumers in the sample showed relatively stable behaviour</a:t>
          </a:r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Panic Buying Behaviour During Fuel Supply Uncertainty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A57FF9-4BA4-5568-0746-E93320345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649704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Motivation /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E0CE55-27B3-2383-B5A9-CBEB91D4D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30176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Does exposure to crisis-related news about fuel supply increase panic buying behaviour among consumers?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Experiment Design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DAD52F-DA16-0F4D-35A9-A5DAFC97C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14134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Hypothesis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BDD7E7-1E31-BEE5-EEA6-8ECAD54A9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903528"/>
              </p:ext>
            </p:extLst>
          </p:nvPr>
        </p:nvGraphicFramePr>
        <p:xfrm>
          <a:off x="140142" y="2170031"/>
          <a:ext cx="8386638" cy="4031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anchor="b">
            <a:normAutofit/>
          </a:bodyPr>
          <a:lstStyle/>
          <a:p>
            <a:r>
              <a:rPr lang="en-US" sz="4200" b="1"/>
              <a:t>Result</a:t>
            </a:r>
            <a:r>
              <a:rPr lang="en-US" sz="4200"/>
              <a:t> </a:t>
            </a:r>
            <a:r>
              <a:rPr lang="en-US" sz="4200" b="1"/>
              <a:t>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4821" y="259950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/>
          </a:p>
          <a:p>
            <a:r>
              <a:rPr lang="en-US" sz="1700"/>
              <a:t>All p-values &gt; 0.05 → Not statistically significant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2F2366-DEF6-721C-F073-D62914727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354611"/>
              </p:ext>
            </p:extLst>
          </p:nvPr>
        </p:nvGraphicFramePr>
        <p:xfrm>
          <a:off x="476471" y="3385358"/>
          <a:ext cx="3862708" cy="199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43">
                  <a:extLst>
                    <a:ext uri="{9D8B030D-6E8A-4147-A177-3AD203B41FA5}">
                      <a16:colId xmlns:a16="http://schemas.microsoft.com/office/drawing/2014/main" val="3847919231"/>
                    </a:ext>
                  </a:extLst>
                </a:gridCol>
                <a:gridCol w="861617">
                  <a:extLst>
                    <a:ext uri="{9D8B030D-6E8A-4147-A177-3AD203B41FA5}">
                      <a16:colId xmlns:a16="http://schemas.microsoft.com/office/drawing/2014/main" val="1777311913"/>
                    </a:ext>
                  </a:extLst>
                </a:gridCol>
                <a:gridCol w="1215421">
                  <a:extLst>
                    <a:ext uri="{9D8B030D-6E8A-4147-A177-3AD203B41FA5}">
                      <a16:colId xmlns:a16="http://schemas.microsoft.com/office/drawing/2014/main" val="719145800"/>
                    </a:ext>
                  </a:extLst>
                </a:gridCol>
                <a:gridCol w="705527">
                  <a:extLst>
                    <a:ext uri="{9D8B030D-6E8A-4147-A177-3AD203B41FA5}">
                      <a16:colId xmlns:a16="http://schemas.microsoft.com/office/drawing/2014/main" val="1690486689"/>
                    </a:ext>
                  </a:extLst>
                </a:gridCol>
              </a:tblGrid>
              <a:tr h="554432">
                <a:tc>
                  <a:txBody>
                    <a:bodyPr/>
                    <a:lstStyle/>
                    <a:p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Control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Treatement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 value</a:t>
                      </a:r>
                      <a:endParaRPr lang="en-IN" sz="1500"/>
                    </a:p>
                  </a:txBody>
                  <a:tcPr marL="74923" marR="74923" marT="37462" marB="37462"/>
                </a:tc>
                <a:extLst>
                  <a:ext uri="{0D108BD9-81ED-4DB2-BD59-A6C34878D82A}">
                    <a16:rowId xmlns:a16="http://schemas.microsoft.com/office/drawing/2014/main" val="3557242690"/>
                  </a:ext>
                </a:extLst>
              </a:tr>
              <a:tr h="329663">
                <a:tc>
                  <a:txBody>
                    <a:bodyPr/>
                    <a:lstStyle/>
                    <a:p>
                      <a:r>
                        <a:rPr lang="en-US" sz="1500"/>
                        <a:t>Fuel refill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3.5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3.1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0.38</a:t>
                      </a:r>
                      <a:endParaRPr lang="en-IN" sz="1500"/>
                    </a:p>
                  </a:txBody>
                  <a:tcPr marL="74923" marR="74923" marT="37462" marB="37462"/>
                </a:tc>
                <a:extLst>
                  <a:ext uri="{0D108BD9-81ED-4DB2-BD59-A6C34878D82A}">
                    <a16:rowId xmlns:a16="http://schemas.microsoft.com/office/drawing/2014/main" val="629376817"/>
                  </a:ext>
                </a:extLst>
              </a:tr>
              <a:tr h="554432">
                <a:tc>
                  <a:txBody>
                    <a:bodyPr/>
                    <a:lstStyle/>
                    <a:p>
                      <a:r>
                        <a:rPr lang="en-US" sz="1500"/>
                        <a:t>LPG booking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3.25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3.05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0.32</a:t>
                      </a:r>
                      <a:endParaRPr lang="en-IN" sz="1500"/>
                    </a:p>
                  </a:txBody>
                  <a:tcPr marL="74923" marR="74923" marT="37462" marB="37462"/>
                </a:tc>
                <a:extLst>
                  <a:ext uri="{0D108BD9-81ED-4DB2-BD59-A6C34878D82A}">
                    <a16:rowId xmlns:a16="http://schemas.microsoft.com/office/drawing/2014/main" val="951133950"/>
                  </a:ext>
                </a:extLst>
              </a:tr>
              <a:tr h="554432">
                <a:tc>
                  <a:txBody>
                    <a:bodyPr/>
                    <a:lstStyle/>
                    <a:p>
                      <a:r>
                        <a:rPr lang="en-US" sz="1500"/>
                        <a:t>Herd behaviour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2.90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2.75</a:t>
                      </a:r>
                      <a:endParaRPr lang="en-IN" sz="1500"/>
                    </a:p>
                  </a:txBody>
                  <a:tcPr marL="74923" marR="74923" marT="37462" marB="37462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0.20</a:t>
                      </a:r>
                      <a:endParaRPr lang="en-IN" sz="1500"/>
                    </a:p>
                  </a:txBody>
                  <a:tcPr marL="74923" marR="74923" marT="37462" marB="37462"/>
                </a:tc>
                <a:extLst>
                  <a:ext uri="{0D108BD9-81ED-4DB2-BD59-A6C34878D82A}">
                    <a16:rowId xmlns:a16="http://schemas.microsoft.com/office/drawing/2014/main" val="36758369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Survey Data Collection (Qualtrics)</a:t>
            </a:r>
          </a:p>
        </p:txBody>
      </p:sp>
      <p:pic>
        <p:nvPicPr>
          <p:cNvPr id="3" name="Picture 2" descr="3fed9f96-4e92-4401-98b5-93ae306d36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185273"/>
            <a:ext cx="8495662" cy="4014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Analysis in Excel</a:t>
            </a:r>
          </a:p>
        </p:txBody>
      </p:sp>
      <p:pic>
        <p:nvPicPr>
          <p:cNvPr id="3" name="Picture 2" descr="66756414-b761-41a0-8a7c-1080df065c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342" y="1966293"/>
            <a:ext cx="5763313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Interpretation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8B43CF-3C89-68E2-09D6-9DD517524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87477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Exposure to crisis information alone may not trigger panic buying</a:t>
            </a:r>
          </a:p>
          <a:p>
            <a:r>
              <a:t>• Real shortages or price shocks may have stronger effects</a:t>
            </a:r>
          </a:p>
          <a:p>
            <a:r>
              <a:t>• Clear communication from authorities can help avoid panic behaviour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224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Panic Buying Behaviour During Fuel Supply Uncertainty</vt:lpstr>
      <vt:lpstr>Motivation / Context</vt:lpstr>
      <vt:lpstr>Research Question</vt:lpstr>
      <vt:lpstr>Experiment Design</vt:lpstr>
      <vt:lpstr>Hypothesis</vt:lpstr>
      <vt:lpstr>Result Summary</vt:lpstr>
      <vt:lpstr>Survey Data Collection (Qualtrics)</vt:lpstr>
      <vt:lpstr>Data Analysis in Excel</vt:lpstr>
      <vt:lpstr>Interpretation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Nikunj Gour</cp:lastModifiedBy>
  <cp:revision>2</cp:revision>
  <dcterms:created xsi:type="dcterms:W3CDTF">2013-01-27T09:14:16Z</dcterms:created>
  <dcterms:modified xsi:type="dcterms:W3CDTF">2026-03-15T06:47:35Z</dcterms:modified>
  <cp:category/>
</cp:coreProperties>
</file>